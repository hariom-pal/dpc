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9"/>
  </p:notesMasterIdLst>
  <p:sldIdLst>
    <p:sldId id="256" r:id="rId2"/>
    <p:sldId id="257" r:id="rId3"/>
    <p:sldId id="258" r:id="rId4"/>
    <p:sldId id="259" r:id="rId5"/>
    <p:sldId id="262" r:id="rId6"/>
    <p:sldId id="261" r:id="rId7"/>
    <p:sldId id="260" r:id="rId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FDFD"/>
    <a:srgbClr val="F8F8F8"/>
    <a:srgbClr val="E71D57"/>
    <a:srgbClr val="1FA5BB"/>
    <a:srgbClr val="F200AD"/>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4" d="100"/>
          <a:sy n="64" d="100"/>
        </p:scale>
        <p:origin x="-1482" y="-10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1044B2C-8015-43D0-B9CC-38B9AF38CD75}" type="datetimeFigureOut">
              <a:rPr lang="en-US" smtClean="0"/>
              <a:pPr/>
              <a:t>4/18/2018</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8D62CFD-321F-4D1E-8A4B-5DB410CE92F4}"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A7428879-9EBE-43A1-A9B2-9259C3B49EA1}" type="datetimeFigureOut">
              <a:rPr lang="en-US" smtClean="0"/>
              <a:pPr/>
              <a:t>4/18/2018</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36915CD0-5AD6-4D05-881F-B036B9314873}"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A7428879-9EBE-43A1-A9B2-9259C3B49EA1}" type="datetimeFigureOut">
              <a:rPr lang="en-US" smtClean="0"/>
              <a:pPr/>
              <a:t>4/18/2018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915CD0-5AD6-4D05-881F-B036B9314873}"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A7428879-9EBE-43A1-A9B2-9259C3B49EA1}" type="datetimeFigureOut">
              <a:rPr lang="en-US" smtClean="0"/>
              <a:pPr/>
              <a:t>4/18/2018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915CD0-5AD6-4D05-881F-B036B9314873}"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A7428879-9EBE-43A1-A9B2-9259C3B49EA1}" type="datetimeFigureOut">
              <a:rPr lang="en-US" smtClean="0"/>
              <a:pPr/>
              <a:t>4/18/2018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6915CD0-5AD6-4D05-881F-B036B9314873}"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7428879-9EBE-43A1-A9B2-9259C3B49EA1}" type="datetimeFigureOut">
              <a:rPr lang="en-US" smtClean="0"/>
              <a:pPr/>
              <a:t>4/18/2018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6915CD0-5AD6-4D05-881F-B036B9314873}"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A7428879-9EBE-43A1-A9B2-9259C3B49EA1}" type="datetimeFigureOut">
              <a:rPr lang="en-US" smtClean="0"/>
              <a:pPr/>
              <a:t>4/18/2018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6915CD0-5AD6-4D05-881F-B036B9314873}"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7428879-9EBE-43A1-A9B2-9259C3B49EA1}" type="datetimeFigureOut">
              <a:rPr lang="en-US" smtClean="0"/>
              <a:pPr/>
              <a:t>4/18/2018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6915CD0-5AD6-4D05-881F-B036B9314873}"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A7428879-9EBE-43A1-A9B2-9259C3B49EA1}" type="datetimeFigureOut">
              <a:rPr lang="en-US" smtClean="0"/>
              <a:pPr/>
              <a:t>4/18/2018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6915CD0-5AD6-4D05-881F-B036B9314873}"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A7428879-9EBE-43A1-A9B2-9259C3B49EA1}" type="datetimeFigureOut">
              <a:rPr lang="en-US" smtClean="0"/>
              <a:pPr/>
              <a:t>4/18/2018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36915CD0-5AD6-4D05-881F-B036B9314873}"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A7428879-9EBE-43A1-A9B2-9259C3B49EA1}" type="datetimeFigureOut">
              <a:rPr lang="en-US" smtClean="0"/>
              <a:pPr/>
              <a:t>4/18/2018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915CD0-5AD6-4D05-881F-B036B9314873}"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A7428879-9EBE-43A1-A9B2-9259C3B49EA1}" type="datetimeFigureOut">
              <a:rPr lang="en-US" smtClean="0"/>
              <a:pPr/>
              <a:t>4/18/2018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915CD0-5AD6-4D05-881F-B036B931487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A7428879-9EBE-43A1-A9B2-9259C3B49EA1}" type="datetimeFigureOut">
              <a:rPr lang="en-US" smtClean="0"/>
              <a:pPr/>
              <a:t>4/18/2018</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36915CD0-5AD6-4D05-881F-B036B9314873}"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8596" y="-24"/>
            <a:ext cx="8286808" cy="785818"/>
          </a:xfrm>
        </p:spPr>
        <p:txBody>
          <a:bodyPr anchor="ctr">
            <a:noAutofit/>
          </a:bodyPr>
          <a:lstStyle/>
          <a:p>
            <a:pPr algn="ctr"/>
            <a:r>
              <a:rPr lang="en-IN" sz="3200" smtClean="0"/>
              <a:t>CHHATTISGARH PUBLIC SERVICE COMMISSION</a:t>
            </a:r>
            <a:endParaRPr lang="en-US" sz="3200"/>
          </a:p>
        </p:txBody>
      </p:sp>
      <p:sp>
        <p:nvSpPr>
          <p:cNvPr id="3" name="Subtitle 2"/>
          <p:cNvSpPr>
            <a:spLocks noGrp="1"/>
          </p:cNvSpPr>
          <p:nvPr>
            <p:ph type="subTitle" idx="1"/>
          </p:nvPr>
        </p:nvSpPr>
        <p:spPr>
          <a:xfrm>
            <a:off x="357158" y="714356"/>
            <a:ext cx="8429684" cy="357190"/>
          </a:xfrm>
        </p:spPr>
        <p:txBody>
          <a:bodyPr anchor="t">
            <a:normAutofit fontScale="92500" lnSpcReduction="10000"/>
          </a:bodyPr>
          <a:lstStyle/>
          <a:p>
            <a:pPr algn="ctr"/>
            <a:r>
              <a:rPr lang="en-IN" sz="2000" smtClean="0"/>
              <a:t>SHANKAR NAGAR ROAD, RAIPUR (C.G.)</a:t>
            </a:r>
          </a:p>
          <a:p>
            <a:pPr algn="ctr"/>
            <a:endParaRPr lang="en-IN" sz="2000" smtClean="0"/>
          </a:p>
          <a:p>
            <a:pPr algn="ctr"/>
            <a:endParaRPr lang="en-IN" sz="2000" smtClean="0"/>
          </a:p>
          <a:p>
            <a:pPr algn="just"/>
            <a:endParaRPr lang="en-US" sz="2000"/>
          </a:p>
        </p:txBody>
      </p:sp>
      <p:sp>
        <p:nvSpPr>
          <p:cNvPr id="4" name="TextBox 3"/>
          <p:cNvSpPr txBox="1"/>
          <p:nvPr/>
        </p:nvSpPr>
        <p:spPr>
          <a:xfrm>
            <a:off x="1000100" y="2000802"/>
            <a:ext cx="7215238" cy="3046988"/>
          </a:xfrm>
          <a:prstGeom prst="rect">
            <a:avLst/>
          </a:prstGeom>
          <a:noFill/>
        </p:spPr>
        <p:txBody>
          <a:bodyPr wrap="square" rtlCol="0">
            <a:spAutoFit/>
          </a:bodyPr>
          <a:lstStyle/>
          <a:p>
            <a:pPr algn="ctr"/>
            <a:r>
              <a:rPr lang="en-IN" sz="4800" b="1" dirty="0" smtClean="0">
                <a:solidFill>
                  <a:srgbClr val="E71D57"/>
                </a:solidFill>
                <a:effectLst>
                  <a:outerShdw blurRad="38100" dist="38100" dir="2700000" algn="tl">
                    <a:srgbClr val="000000">
                      <a:alpha val="43137"/>
                    </a:srgbClr>
                  </a:outerShdw>
                </a:effectLst>
              </a:rPr>
              <a:t>CONVENTIONAL</a:t>
            </a:r>
          </a:p>
          <a:p>
            <a:pPr algn="ctr"/>
            <a:r>
              <a:rPr lang="en-IN" sz="4800" b="1" dirty="0" smtClean="0">
                <a:solidFill>
                  <a:srgbClr val="E71D57"/>
                </a:solidFill>
                <a:effectLst>
                  <a:outerShdw blurRad="38100" dist="38100" dir="2700000" algn="tl">
                    <a:srgbClr val="000000">
                      <a:alpha val="43137"/>
                    </a:srgbClr>
                  </a:outerShdw>
                </a:effectLst>
              </a:rPr>
              <a:t>DEPARTMENTAL PROMOTION</a:t>
            </a:r>
          </a:p>
          <a:p>
            <a:pPr algn="ctr"/>
            <a:r>
              <a:rPr lang="en-IN" sz="4800" b="1" dirty="0" smtClean="0">
                <a:solidFill>
                  <a:srgbClr val="E71D57"/>
                </a:solidFill>
                <a:effectLst>
                  <a:outerShdw blurRad="38100" dist="38100" dir="2700000" algn="tl">
                    <a:srgbClr val="000000">
                      <a:alpha val="43137"/>
                    </a:srgbClr>
                  </a:outerShdw>
                </a:effectLst>
              </a:rPr>
              <a:t>COMMITTEE</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357158" y="6572272"/>
            <a:ext cx="8429684" cy="261610"/>
          </a:xfrm>
          <a:prstGeom prst="rect">
            <a:avLst/>
          </a:prstGeom>
          <a:noFill/>
        </p:spPr>
        <p:txBody>
          <a:bodyPr wrap="square" rtlCol="0">
            <a:spAutoFit/>
          </a:bodyPr>
          <a:lstStyle/>
          <a:p>
            <a:pPr algn="ctr"/>
            <a:r>
              <a:rPr lang="en-IN" sz="1100" b="1" dirty="0" smtClean="0">
                <a:solidFill>
                  <a:srgbClr val="002060"/>
                </a:solidFill>
              </a:rPr>
              <a:t>PROPOSED AND DESIGNED BY – G. </a:t>
            </a:r>
            <a:r>
              <a:rPr lang="en-IN" sz="1100" b="1" dirty="0" err="1" smtClean="0">
                <a:solidFill>
                  <a:srgbClr val="002060"/>
                </a:solidFill>
              </a:rPr>
              <a:t>RATHOD</a:t>
            </a:r>
            <a:r>
              <a:rPr lang="en-IN" sz="1100" b="1" dirty="0" smtClean="0">
                <a:solidFill>
                  <a:srgbClr val="002060"/>
                </a:solidFill>
              </a:rPr>
              <a:t>, OFFICER </a:t>
            </a:r>
            <a:r>
              <a:rPr lang="en-IN" sz="1100" b="1" dirty="0" err="1" smtClean="0">
                <a:solidFill>
                  <a:srgbClr val="002060"/>
                </a:solidFill>
              </a:rPr>
              <a:t>IN</a:t>
            </a:r>
            <a:r>
              <a:rPr lang="en-IN" sz="1100" b="1" dirty="0" smtClean="0">
                <a:solidFill>
                  <a:srgbClr val="002060"/>
                </a:solidFill>
              </a:rPr>
              <a:t>-CHARGE, IT SECTION, </a:t>
            </a:r>
            <a:r>
              <a:rPr lang="en-IN" sz="1100" b="1" dirty="0" err="1" smtClean="0">
                <a:solidFill>
                  <a:srgbClr val="002060"/>
                </a:solidFill>
              </a:rPr>
              <a:t>CGPSC</a:t>
            </a:r>
            <a:endParaRPr lang="en-US" sz="1100" b="1" dirty="0">
              <a:solidFill>
                <a:srgbClr val="002060"/>
              </a:solidFill>
            </a:endParaRPr>
          </a:p>
        </p:txBody>
      </p:sp>
      <p:sp>
        <p:nvSpPr>
          <p:cNvPr id="4" name="Title 1"/>
          <p:cNvSpPr txBox="1">
            <a:spLocks/>
          </p:cNvSpPr>
          <p:nvPr/>
        </p:nvSpPr>
        <p:spPr>
          <a:xfrm>
            <a:off x="428596" y="-24"/>
            <a:ext cx="8286808" cy="785818"/>
          </a:xfrm>
          <a:prstGeom prst="rect">
            <a:avLst/>
          </a:prstGeom>
        </p:spPr>
        <p:txBody>
          <a:bodyPr vert="horz" lIns="0" rIns="0" bIns="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IN" sz="3200" b="0" i="0" u="none" strike="noStrike" kern="1200" cap="none" spc="0" normalizeH="0" baseline="0" noProof="0" dirty="0" smtClean="0">
                <a:ln>
                  <a:noFill/>
                </a:ln>
                <a:solidFill>
                  <a:schemeClr val="tx2"/>
                </a:solidFill>
                <a:effectLst/>
                <a:uLnTx/>
                <a:uFillTx/>
                <a:latin typeface="+mj-lt"/>
                <a:ea typeface="+mj-ea"/>
                <a:cs typeface="+mj-cs"/>
              </a:rPr>
              <a:t>CHHATTISGARH PUBLIC SERVICE COMMISSION</a:t>
            </a:r>
            <a:endParaRPr kumimoji="0" lang="en-US" sz="3200" b="0" i="0" u="none" strike="noStrike" kern="1200" cap="none" spc="0" normalizeH="0" baseline="0" noProof="0" dirty="0">
              <a:ln>
                <a:noFill/>
              </a:ln>
              <a:solidFill>
                <a:schemeClr val="tx2"/>
              </a:solidFill>
              <a:effectLst/>
              <a:uLnTx/>
              <a:uFillTx/>
              <a:latin typeface="+mj-lt"/>
              <a:ea typeface="+mj-ea"/>
              <a:cs typeface="+mj-cs"/>
            </a:endParaRPr>
          </a:p>
        </p:txBody>
      </p:sp>
      <p:sp>
        <p:nvSpPr>
          <p:cNvPr id="5" name="Subtitle 2"/>
          <p:cNvSpPr txBox="1">
            <a:spLocks/>
          </p:cNvSpPr>
          <p:nvPr/>
        </p:nvSpPr>
        <p:spPr>
          <a:xfrm>
            <a:off x="357158" y="714356"/>
            <a:ext cx="8429684" cy="357190"/>
          </a:xfrm>
          <a:prstGeom prst="rect">
            <a:avLst/>
          </a:prstGeom>
        </p:spPr>
        <p:txBody>
          <a:bodyPr vert="horz" anchor="t">
            <a:normAutofit fontScale="92500" lnSpcReduction="10000"/>
          </a:bodyPr>
          <a:lstStyle/>
          <a:p>
            <a:pPr marL="274320" marR="0" lvl="0" indent="-274320" algn="ctr" defTabSz="914400" rtl="0" eaLnBrk="1" fontAlgn="auto" latinLnBrk="0" hangingPunct="1">
              <a:lnSpc>
                <a:spcPct val="100000"/>
              </a:lnSpc>
              <a:spcBef>
                <a:spcPct val="20000"/>
              </a:spcBef>
              <a:spcAft>
                <a:spcPts val="0"/>
              </a:spcAft>
              <a:buClr>
                <a:schemeClr val="accent3"/>
              </a:buClr>
              <a:buSzPct val="95000"/>
              <a:tabLst/>
              <a:defRPr/>
            </a:pPr>
            <a:r>
              <a:rPr kumimoji="0" lang="en-IN" sz="2000" b="0" i="0" u="none" strike="noStrike" kern="1200" cap="none" spc="0" normalizeH="0" baseline="0" noProof="0" dirty="0" smtClean="0">
                <a:ln>
                  <a:noFill/>
                </a:ln>
                <a:solidFill>
                  <a:schemeClr val="tx1"/>
                </a:solidFill>
                <a:effectLst/>
                <a:uLnTx/>
                <a:uFillTx/>
                <a:latin typeface="+mn-lt"/>
                <a:ea typeface="+mn-ea"/>
                <a:cs typeface="+mn-cs"/>
              </a:rPr>
              <a:t>SHANKAR NAGAR ROAD, RAIPUR (C.G.)</a:t>
            </a:r>
          </a:p>
        </p:txBody>
      </p:sp>
      <p:sp>
        <p:nvSpPr>
          <p:cNvPr id="6" name="TextBox 5"/>
          <p:cNvSpPr txBox="1"/>
          <p:nvPr/>
        </p:nvSpPr>
        <p:spPr>
          <a:xfrm>
            <a:off x="941632" y="1059404"/>
            <a:ext cx="7215238" cy="369332"/>
          </a:xfrm>
          <a:prstGeom prst="rect">
            <a:avLst/>
          </a:prstGeom>
          <a:noFill/>
        </p:spPr>
        <p:txBody>
          <a:bodyPr wrap="square" rtlCol="0">
            <a:spAutoFit/>
          </a:bodyPr>
          <a:lstStyle/>
          <a:p>
            <a:pPr algn="ctr"/>
            <a:r>
              <a:rPr lang="en-IN" b="1" dirty="0" smtClean="0">
                <a:solidFill>
                  <a:schemeClr val="accent2">
                    <a:lumMod val="75000"/>
                  </a:schemeClr>
                </a:solidFill>
              </a:rPr>
              <a:t>CONVENTIONAL DEPARTMENTAL PROMOTION</a:t>
            </a:r>
            <a:endParaRPr lang="en-US" b="1" dirty="0">
              <a:solidFill>
                <a:srgbClr val="F200AD"/>
              </a:solidFill>
            </a:endParaRPr>
          </a:p>
        </p:txBody>
      </p:sp>
      <p:sp>
        <p:nvSpPr>
          <p:cNvPr id="8" name="Rectangle 7"/>
          <p:cNvSpPr/>
          <p:nvPr/>
        </p:nvSpPr>
        <p:spPr>
          <a:xfrm>
            <a:off x="357158" y="1500174"/>
            <a:ext cx="8429684" cy="5072098"/>
          </a:xfrm>
          <a:prstGeom prst="rect">
            <a:avLst/>
          </a:prstGeom>
          <a:solidFill>
            <a:schemeClr val="bg1"/>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a:r>
              <a:rPr lang="en-IN" sz="2000" b="1" dirty="0" smtClean="0">
                <a:solidFill>
                  <a:schemeClr val="accent1">
                    <a:lumMod val="50000"/>
                  </a:schemeClr>
                </a:solidFill>
              </a:rPr>
              <a:t>CONVENTIONAL </a:t>
            </a:r>
            <a:r>
              <a:rPr lang="hi-IN" sz="2000" b="1" dirty="0" smtClean="0">
                <a:solidFill>
                  <a:schemeClr val="accent1">
                    <a:lumMod val="50000"/>
                  </a:schemeClr>
                </a:solidFill>
              </a:rPr>
              <a:t>DEPARTMENTAL PROMOTION </a:t>
            </a:r>
            <a:r>
              <a:rPr lang="hi-IN" sz="2000" b="1" dirty="0" smtClean="0">
                <a:solidFill>
                  <a:schemeClr val="accent1">
                    <a:lumMod val="50000"/>
                  </a:schemeClr>
                </a:solidFill>
                <a:latin typeface="Aparajita" pitchFamily="18" charset="0"/>
                <a:cs typeface="Aparajita" pitchFamily="18" charset="0"/>
              </a:rPr>
              <a:t>की प्रक्रिया में विभाग द्वारा प्रेषित प्रस्ताव में निम्न जानकारियां वांछित होती हैं -</a:t>
            </a:r>
            <a:endParaRPr lang="hi-IN" dirty="0">
              <a:solidFill>
                <a:schemeClr val="accent1">
                  <a:lumMod val="50000"/>
                </a:schemeClr>
              </a:solidFill>
              <a:latin typeface="Aparajita" pitchFamily="18" charset="0"/>
              <a:cs typeface="Aparajita" pitchFamily="18" charset="0"/>
            </a:endParaRPr>
          </a:p>
          <a:p>
            <a:pPr marL="342900" indent="-342900" algn="just">
              <a:buAutoNum type="arabicPeriod"/>
            </a:pPr>
            <a:endParaRPr lang="hi-IN" dirty="0" smtClean="0">
              <a:solidFill>
                <a:schemeClr val="accent1">
                  <a:lumMod val="50000"/>
                </a:schemeClr>
              </a:solidFill>
            </a:endParaRPr>
          </a:p>
          <a:p>
            <a:pPr marL="342900" indent="-342900" algn="just">
              <a:buAutoNum type="arabicPeriod"/>
            </a:pPr>
            <a:r>
              <a:rPr lang="hi-IN" b="1" dirty="0" smtClean="0">
                <a:solidFill>
                  <a:schemeClr val="tx1"/>
                </a:solidFill>
                <a:latin typeface="Aparajita" pitchFamily="18" charset="0"/>
                <a:cs typeface="Aparajita" pitchFamily="18" charset="0"/>
              </a:rPr>
              <a:t>विभाग का नाम</a:t>
            </a:r>
          </a:p>
          <a:p>
            <a:pPr marL="342900" indent="-342900" algn="just">
              <a:buAutoNum type="arabicPeriod"/>
            </a:pPr>
            <a:r>
              <a:rPr lang="hi-IN" b="1" dirty="0" smtClean="0">
                <a:solidFill>
                  <a:schemeClr val="tx1"/>
                </a:solidFill>
                <a:latin typeface="Aparajita" pitchFamily="18" charset="0"/>
                <a:cs typeface="Aparajita" pitchFamily="18" charset="0"/>
              </a:rPr>
              <a:t>पद नाम - </a:t>
            </a:r>
            <a:r>
              <a:rPr lang="hi-IN" u="sng" dirty="0" smtClean="0">
                <a:solidFill>
                  <a:schemeClr val="tx1"/>
                </a:solidFill>
                <a:latin typeface="Aparajita" pitchFamily="18" charset="0"/>
                <a:cs typeface="Aparajita" pitchFamily="18" charset="0"/>
              </a:rPr>
              <a:t>किस पद से किस पद पर पदोन्नति होनी है.</a:t>
            </a:r>
          </a:p>
          <a:p>
            <a:pPr marL="342900" indent="-342900" algn="just">
              <a:buAutoNum type="arabicPeriod"/>
            </a:pPr>
            <a:r>
              <a:rPr lang="hi-IN" b="1" dirty="0" smtClean="0">
                <a:solidFill>
                  <a:schemeClr val="tx1"/>
                </a:solidFill>
                <a:latin typeface="Aparajita" pitchFamily="18" charset="0"/>
                <a:cs typeface="Aparajita" pitchFamily="18" charset="0"/>
              </a:rPr>
              <a:t>विभागीय टीप/ संक्षेपिका </a:t>
            </a:r>
          </a:p>
          <a:p>
            <a:pPr marL="342900" indent="-342900" algn="just">
              <a:buAutoNum type="arabicPeriod"/>
            </a:pPr>
            <a:r>
              <a:rPr lang="hi-IN" b="1" dirty="0" smtClean="0">
                <a:solidFill>
                  <a:schemeClr val="tx1"/>
                </a:solidFill>
                <a:latin typeface="Aparajita" pitchFamily="18" charset="0"/>
                <a:cs typeface="Aparajita" pitchFamily="18" charset="0"/>
              </a:rPr>
              <a:t>DPC PROFARMA – </a:t>
            </a:r>
            <a:r>
              <a:rPr lang="hi-IN" u="sng" dirty="0" smtClean="0">
                <a:solidFill>
                  <a:schemeClr val="tx1"/>
                </a:solidFill>
                <a:latin typeface="Aparajita" pitchFamily="18" charset="0"/>
                <a:cs typeface="Aparajita" pitchFamily="18" charset="0"/>
              </a:rPr>
              <a:t>DPC समिति का विवरण, पद विवरण, रिक्ति (नियमित व तदर्थ) विवरण, निःशक्त जनों हेतु आरक्षित रिक्ति विवरण.</a:t>
            </a:r>
          </a:p>
          <a:p>
            <a:pPr marL="342900" indent="-342900" algn="just">
              <a:buAutoNum type="arabicPeriod"/>
            </a:pPr>
            <a:r>
              <a:rPr lang="hi-IN" b="1" dirty="0" smtClean="0">
                <a:solidFill>
                  <a:schemeClr val="tx1"/>
                </a:solidFill>
                <a:latin typeface="Aparajita" pitchFamily="18" charset="0"/>
                <a:cs typeface="Aparajita" pitchFamily="18" charset="0"/>
              </a:rPr>
              <a:t>अद्यतन सेवा भरती नियम </a:t>
            </a:r>
          </a:p>
          <a:p>
            <a:pPr marL="342900" indent="-342900" algn="just">
              <a:buAutoNum type="arabicPeriod"/>
            </a:pPr>
            <a:r>
              <a:rPr lang="hi-IN" b="1" dirty="0" smtClean="0">
                <a:solidFill>
                  <a:schemeClr val="tx1"/>
                </a:solidFill>
                <a:latin typeface="Aparajita" pitchFamily="18" charset="0"/>
                <a:cs typeface="Aparajita" pitchFamily="18" charset="0"/>
              </a:rPr>
              <a:t>विभागीय सेटअप </a:t>
            </a:r>
          </a:p>
          <a:p>
            <a:pPr marL="342900" indent="-342900" algn="just">
              <a:buAutoNum type="arabicPeriod"/>
            </a:pPr>
            <a:r>
              <a:rPr lang="hi-IN" b="1" dirty="0" smtClean="0">
                <a:solidFill>
                  <a:schemeClr val="tx1"/>
                </a:solidFill>
                <a:latin typeface="Aparajita" pitchFamily="18" charset="0"/>
                <a:cs typeface="Aparajita" pitchFamily="18" charset="0"/>
              </a:rPr>
              <a:t>पदक्रम/ वरिष्ठता सूचि </a:t>
            </a:r>
          </a:p>
          <a:p>
            <a:pPr marL="342900" indent="-342900" algn="just">
              <a:buAutoNum type="arabicPeriod"/>
            </a:pPr>
            <a:r>
              <a:rPr lang="hi-IN" b="1" dirty="0" smtClean="0">
                <a:solidFill>
                  <a:schemeClr val="tx1"/>
                </a:solidFill>
                <a:latin typeface="Aparajita" pitchFamily="18" charset="0"/>
                <a:cs typeface="Aparajita" pitchFamily="18" charset="0"/>
              </a:rPr>
              <a:t>सन्निष्ठा प्रमाण पत्र </a:t>
            </a:r>
          </a:p>
          <a:p>
            <a:pPr marL="342900" indent="-342900" algn="just">
              <a:buAutoNum type="arabicPeriod"/>
            </a:pPr>
            <a:r>
              <a:rPr lang="hi-IN" b="1" dirty="0" smtClean="0">
                <a:solidFill>
                  <a:schemeClr val="tx1"/>
                </a:solidFill>
                <a:latin typeface="Aparajita" pitchFamily="18" charset="0"/>
                <a:cs typeface="Aparajita" pitchFamily="18" charset="0"/>
              </a:rPr>
              <a:t>गोपनीय मूल्यांकन पत्रक – </a:t>
            </a:r>
            <a:r>
              <a:rPr lang="hi-IN" u="sng" dirty="0" smtClean="0">
                <a:solidFill>
                  <a:schemeClr val="tx1"/>
                </a:solidFill>
                <a:latin typeface="Aparajita" pitchFamily="18" charset="0"/>
                <a:cs typeface="Aparajita" pitchFamily="18" charset="0"/>
              </a:rPr>
              <a:t>5 वर्षों का CR</a:t>
            </a:r>
          </a:p>
          <a:p>
            <a:pPr marL="342900" indent="-342900" algn="just">
              <a:buAutoNum type="arabicPeriod"/>
            </a:pPr>
            <a:r>
              <a:rPr lang="hi-IN" b="1" dirty="0" smtClean="0">
                <a:solidFill>
                  <a:schemeClr val="tx1"/>
                </a:solidFill>
                <a:latin typeface="Aparajita" pitchFamily="18" charset="0"/>
                <a:cs typeface="Aparajita" pitchFamily="18" charset="0"/>
              </a:rPr>
              <a:t>DE/ COURT CASE/ लोकायुक्त प्रकरण लंबित न होने सम्बन्धी प्रमाण पत्र.</a:t>
            </a:r>
          </a:p>
          <a:p>
            <a:pPr marL="342900" indent="-342900" algn="just">
              <a:buAutoNum type="arabicPeriod"/>
            </a:pPr>
            <a:r>
              <a:rPr lang="hi-IN" b="1" dirty="0" smtClean="0">
                <a:solidFill>
                  <a:schemeClr val="tx1"/>
                </a:solidFill>
                <a:latin typeface="Aparajita" pitchFamily="18" charset="0"/>
                <a:cs typeface="Aparajita" pitchFamily="18" charset="0"/>
              </a:rPr>
              <a:t>अद्यतन रोस्टर पंजी – </a:t>
            </a:r>
            <a:r>
              <a:rPr lang="hi-IN" u="sng" dirty="0" smtClean="0">
                <a:solidFill>
                  <a:schemeClr val="tx1"/>
                </a:solidFill>
                <a:latin typeface="Aparajita" pitchFamily="18" charset="0"/>
                <a:cs typeface="Aparajita" pitchFamily="18" charset="0"/>
              </a:rPr>
              <a:t>कार्यरत अधिकारीयों का वर्ग-वार विवरण तथा रिक्ति विवरण  </a:t>
            </a:r>
          </a:p>
          <a:p>
            <a:pPr marL="342900" indent="-342900" algn="just">
              <a:buAutoNum type="arabicPeriod"/>
            </a:pPr>
            <a:r>
              <a:rPr lang="hi-IN" b="1" dirty="0" smtClean="0">
                <a:solidFill>
                  <a:schemeClr val="tx1"/>
                </a:solidFill>
                <a:latin typeface="Aparajita" pitchFamily="18" charset="0"/>
                <a:cs typeface="Aparajita" pitchFamily="18" charset="0"/>
              </a:rPr>
              <a:t>अचल संपत्ति विवरण </a:t>
            </a:r>
          </a:p>
          <a:p>
            <a:pPr marL="342900" indent="-342900" algn="just">
              <a:buAutoNum type="arabicPeriod"/>
            </a:pPr>
            <a:r>
              <a:rPr lang="hi-IN" b="1" dirty="0" smtClean="0">
                <a:solidFill>
                  <a:schemeClr val="tx1"/>
                </a:solidFill>
                <a:latin typeface="Aparajita" pitchFamily="18" charset="0"/>
                <a:cs typeface="Aparajita" pitchFamily="18" charset="0"/>
              </a:rPr>
              <a:t>भरे तथा रिक्त पदों की रोस्टर बिंदु की जानकारी </a:t>
            </a:r>
            <a:endParaRPr lang="en-US" b="1" dirty="0">
              <a:solidFill>
                <a:schemeClr val="tx1"/>
              </a:solidFill>
              <a:latin typeface="Aparajita" pitchFamily="18" charset="0"/>
              <a:cs typeface="Aparajita" pitchFamily="18" charset="0"/>
            </a:endParaRPr>
          </a:p>
        </p:txBody>
      </p:sp>
      <p:sp>
        <p:nvSpPr>
          <p:cNvPr id="9" name="Oval 8"/>
          <p:cNvSpPr/>
          <p:nvPr/>
        </p:nvSpPr>
        <p:spPr>
          <a:xfrm>
            <a:off x="8501090" y="6357982"/>
            <a:ext cx="571440" cy="357166"/>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fld id="{FC6B682A-CC31-41CA-9856-F02BD81F0818}" type="slidenum">
              <a:rPr lang="en-US" sz="1400" b="1" smtClean="0">
                <a:solidFill>
                  <a:srgbClr val="F200AD"/>
                </a:solidFill>
                <a:latin typeface="Arial" pitchFamily="34" charset="0"/>
                <a:cs typeface="Arial" pitchFamily="34" charset="0"/>
              </a:rPr>
              <a:pPr algn="ctr"/>
              <a:t>2</a:t>
            </a:fld>
            <a:endParaRPr lang="en-US" sz="1400" b="1" dirty="0">
              <a:solidFill>
                <a:srgbClr val="F200AD"/>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hi-IN" sz="4000" dirty="0" smtClean="0">
                <a:solidFill>
                  <a:srgbClr val="E71D57"/>
                </a:solidFill>
                <a:latin typeface="Aparajita" pitchFamily="18" charset="0"/>
                <a:cs typeface="Aparajita" pitchFamily="18" charset="0"/>
              </a:rPr>
              <a:t>विभागीय पदोन्नति की प्रक्रिया से सम्बंधित कुछ आधारभूत  जानकारियां </a:t>
            </a:r>
            <a:endParaRPr lang="en-US" sz="4000" dirty="0">
              <a:solidFill>
                <a:srgbClr val="E71D57"/>
              </a:solidFill>
              <a:latin typeface="Aparajita" pitchFamily="18" charset="0"/>
              <a:cs typeface="Aparajita" pitchFamily="18" charset="0"/>
            </a:endParaRPr>
          </a:p>
        </p:txBody>
      </p:sp>
      <p:sp>
        <p:nvSpPr>
          <p:cNvPr id="3" name="Content Placeholder 2"/>
          <p:cNvSpPr>
            <a:spLocks noGrp="1"/>
          </p:cNvSpPr>
          <p:nvPr>
            <p:ph idx="1"/>
          </p:nvPr>
        </p:nvSpPr>
        <p:spPr/>
        <p:txBody>
          <a:bodyPr>
            <a:normAutofit/>
          </a:bodyPr>
          <a:lstStyle/>
          <a:p>
            <a:pPr algn="ctr">
              <a:buNone/>
            </a:pPr>
            <a:r>
              <a:rPr lang="hi-IN" sz="2800" dirty="0" smtClean="0">
                <a:solidFill>
                  <a:srgbClr val="E71D57"/>
                </a:solidFill>
                <a:latin typeface="Aparajita" pitchFamily="18" charset="0"/>
                <a:cs typeface="Aparajita" pitchFamily="18" charset="0"/>
              </a:rPr>
              <a:t>विभागीय पदोन्नति के प्रकार </a:t>
            </a:r>
          </a:p>
          <a:p>
            <a:pPr marL="514350" indent="-514350" algn="just">
              <a:buAutoNum type="arabicPeriod"/>
            </a:pPr>
            <a:r>
              <a:rPr lang="hi-IN" sz="2000" b="1" dirty="0" smtClean="0">
                <a:solidFill>
                  <a:srgbClr val="002060"/>
                </a:solidFill>
                <a:latin typeface="Aparajita" pitchFamily="18" charset="0"/>
                <a:cs typeface="Aparajita" pitchFamily="18" charset="0"/>
              </a:rPr>
              <a:t>Fresh DPC – </a:t>
            </a:r>
            <a:r>
              <a:rPr lang="hi-IN" sz="2000" dirty="0" smtClean="0">
                <a:solidFill>
                  <a:srgbClr val="002060"/>
                </a:solidFill>
                <a:latin typeface="Aparajita" pitchFamily="18" charset="0"/>
                <a:cs typeface="Aparajita" pitchFamily="18" charset="0"/>
              </a:rPr>
              <a:t>नविन पदोन्नति प्रस्ताव FRESH DPC के माध्यम से आयोग को प्रेषित किये जाते हैं. </a:t>
            </a:r>
          </a:p>
          <a:p>
            <a:pPr marL="514350" indent="-514350" algn="just">
              <a:buAutoNum type="arabicPeriod"/>
            </a:pPr>
            <a:r>
              <a:rPr lang="hi-IN" sz="2000" b="1" dirty="0" smtClean="0">
                <a:solidFill>
                  <a:srgbClr val="002060"/>
                </a:solidFill>
                <a:latin typeface="Aparajita" pitchFamily="18" charset="0"/>
                <a:cs typeface="Aparajita" pitchFamily="18" charset="0"/>
              </a:rPr>
              <a:t>Review DPC – </a:t>
            </a:r>
            <a:r>
              <a:rPr lang="hi-IN" sz="2000" dirty="0" smtClean="0">
                <a:solidFill>
                  <a:srgbClr val="002060"/>
                </a:solidFill>
                <a:latin typeface="Aparajita" pitchFamily="18" charset="0"/>
                <a:cs typeface="Aparajita" pitchFamily="18" charset="0"/>
              </a:rPr>
              <a:t>FRESH DPC में किसी प्रकार की त्रुटी होने पर, त्रुटी के संज्ञान में आने के पश्चात् त्रुटी के निराकरण हेतु अभ्यावेदन के साथ REVIEW DPC प्रस्ताव आयोग को प्रेषित किए जाते हैं.</a:t>
            </a:r>
          </a:p>
          <a:p>
            <a:pPr marL="514350" indent="-514350" algn="just">
              <a:buAutoNum type="arabicPeriod"/>
            </a:pPr>
            <a:r>
              <a:rPr lang="hi-IN" sz="2000" b="1" dirty="0" smtClean="0">
                <a:solidFill>
                  <a:srgbClr val="002060"/>
                </a:solidFill>
                <a:latin typeface="Aparajita" pitchFamily="18" charset="0"/>
                <a:cs typeface="Aparajita" pitchFamily="18" charset="0"/>
              </a:rPr>
              <a:t>Circulation DPC – </a:t>
            </a:r>
            <a:r>
              <a:rPr lang="hi-IN" sz="2000" dirty="0" smtClean="0">
                <a:solidFill>
                  <a:srgbClr val="002060"/>
                </a:solidFill>
                <a:latin typeface="Aparajita" pitchFamily="18" charset="0"/>
                <a:cs typeface="Aparajita" pitchFamily="18" charset="0"/>
              </a:rPr>
              <a:t>DPC की प्रक्रिया में एक या अधिक अधिकारीयों या कर्मचारियों के अचल संपत्ति विवरण अथवा 2 या अधिक वर्ष की CR उपलब्ध न होने पर परिभ्रमण टीप हस्ताक्षर हेतु आयोग को प्रेषित की जाती है.</a:t>
            </a:r>
          </a:p>
          <a:p>
            <a:pPr marL="514350" indent="-514350">
              <a:buAutoNum type="arabicPeriod"/>
            </a:pP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8" name="Straight Arrow Connector 17"/>
          <p:cNvCxnSpPr/>
          <p:nvPr/>
        </p:nvCxnSpPr>
        <p:spPr>
          <a:xfrm>
            <a:off x="2428860" y="3841050"/>
            <a:ext cx="5143536" cy="16578"/>
          </a:xfrm>
          <a:prstGeom prst="straightConnector1">
            <a:avLst/>
          </a:prstGeom>
          <a:ln w="76200">
            <a:solidFill>
              <a:srgbClr val="92D050"/>
            </a:solidFill>
            <a:tailEnd type="arrow"/>
          </a:ln>
        </p:spPr>
        <p:style>
          <a:lnRef idx="1">
            <a:schemeClr val="accent1"/>
          </a:lnRef>
          <a:fillRef idx="0">
            <a:schemeClr val="accent1"/>
          </a:fillRef>
          <a:effectRef idx="0">
            <a:schemeClr val="accent1"/>
          </a:effectRef>
          <a:fontRef idx="minor">
            <a:schemeClr val="tx1"/>
          </a:fontRef>
        </p:style>
      </p:cxnSp>
      <p:cxnSp>
        <p:nvCxnSpPr>
          <p:cNvPr id="12" name="Elbow Connector 11"/>
          <p:cNvCxnSpPr/>
          <p:nvPr/>
        </p:nvCxnSpPr>
        <p:spPr>
          <a:xfrm>
            <a:off x="2428860" y="2643182"/>
            <a:ext cx="5143536" cy="357190"/>
          </a:xfrm>
          <a:prstGeom prst="bentConnector3">
            <a:avLst>
              <a:gd name="adj1" fmla="val 50000"/>
            </a:avLst>
          </a:prstGeom>
          <a:ln w="76200">
            <a:solidFill>
              <a:srgbClr val="E71D57"/>
            </a:solidFill>
            <a:tailEnd type="arrow"/>
          </a:ln>
        </p:spPr>
        <p:style>
          <a:lnRef idx="1">
            <a:schemeClr val="accent1"/>
          </a:lnRef>
          <a:fillRef idx="0">
            <a:schemeClr val="accent1"/>
          </a:fillRef>
          <a:effectRef idx="0">
            <a:schemeClr val="accent1"/>
          </a:effectRef>
          <a:fontRef idx="minor">
            <a:schemeClr val="tx1"/>
          </a:fontRef>
        </p:style>
      </p:cxnSp>
      <p:cxnSp>
        <p:nvCxnSpPr>
          <p:cNvPr id="20" name="Elbow Connector 19"/>
          <p:cNvCxnSpPr/>
          <p:nvPr/>
        </p:nvCxnSpPr>
        <p:spPr>
          <a:xfrm flipV="1">
            <a:off x="2428860" y="3857628"/>
            <a:ext cx="5143536" cy="428628"/>
          </a:xfrm>
          <a:prstGeom prst="bentConnector3">
            <a:avLst>
              <a:gd name="adj1" fmla="val 50000"/>
            </a:avLst>
          </a:prstGeom>
          <a:ln w="76200">
            <a:solidFill>
              <a:srgbClr val="E71D57"/>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2428860" y="3483860"/>
            <a:ext cx="5143536" cy="16578"/>
          </a:xfrm>
          <a:prstGeom prst="straightConnector1">
            <a:avLst/>
          </a:prstGeom>
          <a:ln w="76200">
            <a:solidFill>
              <a:srgbClr val="92D050"/>
            </a:solidFill>
            <a:tailEnd type="arrow"/>
          </a:ln>
        </p:spPr>
        <p:style>
          <a:lnRef idx="1">
            <a:schemeClr val="accent1"/>
          </a:lnRef>
          <a:fillRef idx="0">
            <a:schemeClr val="accent1"/>
          </a:fillRef>
          <a:effectRef idx="0">
            <a:schemeClr val="accent1"/>
          </a:effectRef>
          <a:fontRef idx="minor">
            <a:schemeClr val="tx1"/>
          </a:fontRef>
        </p:style>
      </p:cxnSp>
      <p:cxnSp>
        <p:nvCxnSpPr>
          <p:cNvPr id="14" name="Elbow Connector 13"/>
          <p:cNvCxnSpPr/>
          <p:nvPr/>
        </p:nvCxnSpPr>
        <p:spPr>
          <a:xfrm>
            <a:off x="2428860" y="3071810"/>
            <a:ext cx="5143536" cy="357190"/>
          </a:xfrm>
          <a:prstGeom prst="bentConnector3">
            <a:avLst>
              <a:gd name="adj1" fmla="val 50000"/>
            </a:avLst>
          </a:prstGeom>
          <a:ln w="76200">
            <a:solidFill>
              <a:srgbClr val="E71D57"/>
            </a:solidFill>
            <a:tailEnd type="arrow"/>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500034" y="2468904"/>
            <a:ext cx="3857652" cy="4389120"/>
          </a:xfrm>
        </p:spPr>
        <p:txBody>
          <a:bodyPr>
            <a:normAutofit/>
          </a:bodyPr>
          <a:lstStyle/>
          <a:p>
            <a:pPr marL="514350" indent="-514350" algn="ctr">
              <a:buNone/>
            </a:pPr>
            <a:r>
              <a:rPr lang="hi-IN" b="1" dirty="0" smtClean="0">
                <a:latin typeface="Aparajita" pitchFamily="18" charset="0"/>
                <a:cs typeface="Aparajita" pitchFamily="18" charset="0"/>
              </a:rPr>
              <a:t>        क + 	= 	4                             क  	= 	3        ख 		= 	2         ग 		=	1          घ 		=	0 </a:t>
            </a:r>
            <a:endParaRPr lang="en-US" b="1" dirty="0">
              <a:latin typeface="Aparajita" pitchFamily="18" charset="0"/>
              <a:cs typeface="Aparajita" pitchFamily="18" charset="0"/>
            </a:endParaRPr>
          </a:p>
        </p:txBody>
      </p:sp>
      <p:pic>
        <p:nvPicPr>
          <p:cNvPr id="6" name="Picture 5" descr="HAND.jpg"/>
          <p:cNvPicPr>
            <a:picLocks noChangeAspect="1"/>
          </p:cNvPicPr>
          <p:nvPr/>
        </p:nvPicPr>
        <p:blipFill>
          <a:blip r:embed="rId2" cstate="print"/>
          <a:stretch>
            <a:fillRect/>
          </a:stretch>
        </p:blipFill>
        <p:spPr>
          <a:xfrm>
            <a:off x="1928794" y="2683218"/>
            <a:ext cx="1159836" cy="1857388"/>
          </a:xfrm>
          <a:prstGeom prst="rect">
            <a:avLst/>
          </a:prstGeom>
        </p:spPr>
      </p:pic>
      <p:sp>
        <p:nvSpPr>
          <p:cNvPr id="8" name="Flowchart: Delay 7"/>
          <p:cNvSpPr/>
          <p:nvPr/>
        </p:nvSpPr>
        <p:spPr>
          <a:xfrm>
            <a:off x="5143504" y="2940412"/>
            <a:ext cx="1928826" cy="1000132"/>
          </a:xfrm>
          <a:prstGeom prst="flowChartDelay">
            <a:avLst/>
          </a:prstGeom>
          <a:solidFill>
            <a:schemeClr val="tx2">
              <a:lumMod val="7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i-IN" dirty="0" smtClean="0"/>
              <a:t>SERVICE IN TRIBAL AREA </a:t>
            </a:r>
            <a:endParaRPr lang="en-US" dirty="0"/>
          </a:p>
        </p:txBody>
      </p:sp>
      <p:sp>
        <p:nvSpPr>
          <p:cNvPr id="21" name="Rectangle 20"/>
          <p:cNvSpPr/>
          <p:nvPr/>
        </p:nvSpPr>
        <p:spPr>
          <a:xfrm>
            <a:off x="7643834" y="3071810"/>
            <a:ext cx="1428727" cy="707886"/>
          </a:xfrm>
          <a:prstGeom prst="rect">
            <a:avLst/>
          </a:prstGeom>
          <a:noFill/>
        </p:spPr>
        <p:txBody>
          <a:bodyPr wrap="square" lIns="91440" tIns="45720" rIns="91440" bIns="45720">
            <a:spAutoFit/>
          </a:bodyPr>
          <a:lstStyle/>
          <a:p>
            <a:pPr algn="ctr"/>
            <a:r>
              <a:rPr lang="hi-IN" sz="2000" b="1" cap="none" spc="0" dirty="0" smtClean="0">
                <a:ln w="1905">
                  <a:solidFill>
                    <a:srgbClr val="E71D57"/>
                  </a:solidFill>
                </a:ln>
                <a:solidFill>
                  <a:srgbClr val="FF0000"/>
                </a:solidFill>
                <a:effectLst>
                  <a:innerShdw blurRad="69850" dist="43180" dir="5400000">
                    <a:srgbClr val="000000">
                      <a:alpha val="65000"/>
                    </a:srgbClr>
                  </a:innerShdw>
                </a:effectLst>
              </a:rPr>
              <a:t>NO CHANGE </a:t>
            </a:r>
            <a:endParaRPr lang="en-US" sz="2000" b="1" cap="none" spc="0" dirty="0">
              <a:ln w="1905">
                <a:solidFill>
                  <a:srgbClr val="E71D57"/>
                </a:solidFill>
              </a:ln>
              <a:solidFill>
                <a:srgbClr val="FF0000"/>
              </a:solidFill>
              <a:effectLst>
                <a:innerShdw blurRad="69850" dist="43180" dir="5400000">
                  <a:srgbClr val="000000">
                    <a:alpha val="65000"/>
                  </a:srgbClr>
                </a:innerShdw>
              </a:effectLst>
            </a:endParaRPr>
          </a:p>
        </p:txBody>
      </p:sp>
      <p:sp>
        <p:nvSpPr>
          <p:cNvPr id="30" name="TextBox 29"/>
          <p:cNvSpPr txBox="1"/>
          <p:nvPr/>
        </p:nvSpPr>
        <p:spPr>
          <a:xfrm>
            <a:off x="7856083" y="3291488"/>
            <a:ext cx="1002197" cy="923330"/>
          </a:xfrm>
          <a:prstGeom prst="rect">
            <a:avLst/>
          </a:prstGeom>
          <a:noFill/>
        </p:spPr>
        <p:txBody>
          <a:bodyPr wrap="none" rtlCol="0">
            <a:spAutoFit/>
          </a:bodyPr>
          <a:lstStyle/>
          <a:p>
            <a:r>
              <a:rPr lang="hi-IN" sz="5400" b="1" dirty="0" smtClean="0">
                <a:solidFill>
                  <a:srgbClr val="92D050"/>
                </a:solidFill>
              </a:rPr>
              <a:t>+1</a:t>
            </a:r>
            <a:endParaRPr lang="en-US" sz="5400" b="1" dirty="0">
              <a:solidFill>
                <a:srgbClr val="92D050"/>
              </a:solidFill>
            </a:endParaRPr>
          </a:p>
        </p:txBody>
      </p:sp>
      <p:sp>
        <p:nvSpPr>
          <p:cNvPr id="19" name="TextBox 18"/>
          <p:cNvSpPr txBox="1"/>
          <p:nvPr/>
        </p:nvSpPr>
        <p:spPr>
          <a:xfrm>
            <a:off x="571472" y="4643446"/>
            <a:ext cx="8072494" cy="2092881"/>
          </a:xfrm>
          <a:prstGeom prst="rect">
            <a:avLst/>
          </a:prstGeom>
          <a:noFill/>
        </p:spPr>
        <p:txBody>
          <a:bodyPr wrap="square" rtlCol="0">
            <a:spAutoFit/>
          </a:bodyPr>
          <a:lstStyle/>
          <a:p>
            <a:pPr algn="just"/>
            <a:r>
              <a:rPr lang="hi-IN" sz="3200" b="1" dirty="0" smtClean="0">
                <a:solidFill>
                  <a:srgbClr val="002060"/>
                </a:solidFill>
                <a:latin typeface="Aparajita" pitchFamily="18" charset="0"/>
                <a:cs typeface="Aparajita" pitchFamily="18" charset="0"/>
              </a:rPr>
              <a:t>महत्वपूर्ण </a:t>
            </a:r>
            <a:endParaRPr lang="hi-IN" sz="2400" b="1" dirty="0" smtClean="0">
              <a:solidFill>
                <a:srgbClr val="002060"/>
              </a:solidFill>
              <a:latin typeface="Aparajita" pitchFamily="18" charset="0"/>
              <a:cs typeface="Aparajita" pitchFamily="18" charset="0"/>
            </a:endParaRPr>
          </a:p>
          <a:p>
            <a:pPr algn="just">
              <a:buFont typeface="Arial" pitchFamily="34" charset="0"/>
              <a:buChar char="•"/>
            </a:pPr>
            <a:r>
              <a:rPr lang="hi-IN" sz="2000" b="1" dirty="0" smtClean="0">
                <a:solidFill>
                  <a:srgbClr val="C00000"/>
                </a:solidFill>
                <a:latin typeface="Aparajita" pitchFamily="18" charset="0"/>
                <a:cs typeface="Aparajita" pitchFamily="18" charset="0"/>
              </a:rPr>
              <a:t>पदोन्नति हेतु विचाराधीन अधिकारी/ कर्मचारी की विगत 5 वर्षों की CR में से कोई भी CR “घ” नहीं होनी चाहिए.</a:t>
            </a:r>
          </a:p>
          <a:p>
            <a:pPr algn="just">
              <a:buFont typeface="Arial" pitchFamily="34" charset="0"/>
              <a:buChar char="•"/>
            </a:pPr>
            <a:r>
              <a:rPr lang="hi-IN" sz="2000" b="1" dirty="0" smtClean="0">
                <a:solidFill>
                  <a:srgbClr val="C00000"/>
                </a:solidFill>
                <a:latin typeface="Aparajita" pitchFamily="18" charset="0"/>
                <a:cs typeface="Aparajita" pitchFamily="18" charset="0"/>
              </a:rPr>
              <a:t>CLASS-I TO CLASS-I पदोन्नति के मामलों में विचाराधीन अधिकारी/ कर्मचारी की अंतिम वर्ष की CR “ग” नहीं होनी चाहिए.</a:t>
            </a:r>
          </a:p>
          <a:p>
            <a:endParaRPr lang="en-US" dirty="0"/>
          </a:p>
        </p:txBody>
      </p:sp>
      <p:sp>
        <p:nvSpPr>
          <p:cNvPr id="16" name="Rectangle 15"/>
          <p:cNvSpPr/>
          <p:nvPr/>
        </p:nvSpPr>
        <p:spPr>
          <a:xfrm>
            <a:off x="428596" y="556490"/>
            <a:ext cx="8358246" cy="1815882"/>
          </a:xfrm>
          <a:prstGeom prst="rect">
            <a:avLst/>
          </a:prstGeom>
        </p:spPr>
        <p:txBody>
          <a:bodyPr wrap="square">
            <a:spAutoFit/>
          </a:bodyPr>
          <a:lstStyle/>
          <a:p>
            <a:pPr algn="ctr"/>
            <a:r>
              <a:rPr lang="hi-IN" sz="4000" dirty="0" smtClean="0">
                <a:solidFill>
                  <a:srgbClr val="E71D57"/>
                </a:solidFill>
                <a:latin typeface="Aparajita" pitchFamily="18" charset="0"/>
                <a:cs typeface="Aparajita" pitchFamily="18" charset="0"/>
              </a:rPr>
              <a:t>विभागीय पदोन्नति की प्रक्रिया से सम्बंधित कुछ आधारभूत  जानकारियां </a:t>
            </a:r>
            <a:br>
              <a:rPr lang="hi-IN" sz="4000" dirty="0" smtClean="0">
                <a:solidFill>
                  <a:srgbClr val="E71D57"/>
                </a:solidFill>
                <a:latin typeface="Aparajita" pitchFamily="18" charset="0"/>
                <a:cs typeface="Aparajita" pitchFamily="18" charset="0"/>
              </a:rPr>
            </a:br>
            <a:r>
              <a:rPr lang="en-IN" sz="2800" dirty="0" smtClean="0">
                <a:solidFill>
                  <a:srgbClr val="E71D57"/>
                </a:solidFill>
                <a:latin typeface="Aparajita" pitchFamily="18" charset="0"/>
                <a:cs typeface="Aparajita" pitchFamily="18" charset="0"/>
              </a:rPr>
              <a:t>CR </a:t>
            </a:r>
            <a:r>
              <a:rPr lang="hi-IN" sz="2800" dirty="0" smtClean="0">
                <a:solidFill>
                  <a:srgbClr val="E71D57"/>
                </a:solidFill>
                <a:latin typeface="Aparajita" pitchFamily="18" charset="0"/>
                <a:cs typeface="Aparajita" pitchFamily="18" charset="0"/>
              </a:rPr>
              <a:t>सम्बन्धी गणनाएं </a:t>
            </a:r>
            <a:endParaRPr lang="en-US" sz="4000" dirty="0"/>
          </a:p>
        </p:txBody>
      </p:sp>
      <p:sp>
        <p:nvSpPr>
          <p:cNvPr id="17" name="TextBox 16"/>
          <p:cNvSpPr txBox="1"/>
          <p:nvPr/>
        </p:nvSpPr>
        <p:spPr>
          <a:xfrm>
            <a:off x="428596" y="2428868"/>
            <a:ext cx="1357322" cy="2092881"/>
          </a:xfrm>
          <a:prstGeom prst="rect">
            <a:avLst/>
          </a:prstGeom>
          <a:noFill/>
        </p:spPr>
        <p:txBody>
          <a:bodyPr wrap="square" rtlCol="0">
            <a:spAutoFit/>
          </a:bodyPr>
          <a:lstStyle/>
          <a:p>
            <a:r>
              <a:rPr lang="hi-IN" sz="2600" b="1" dirty="0" smtClean="0">
                <a:solidFill>
                  <a:srgbClr val="FF0000"/>
                </a:solidFill>
                <a:latin typeface="+mj-lt"/>
              </a:rPr>
              <a:t>A+  </a:t>
            </a:r>
            <a:r>
              <a:rPr lang="hi-IN" sz="2600" b="1" dirty="0" smtClean="0">
                <a:latin typeface="+mj-lt"/>
              </a:rPr>
              <a:t>=</a:t>
            </a:r>
          </a:p>
          <a:p>
            <a:r>
              <a:rPr lang="hi-IN" sz="2600" b="1" dirty="0" smtClean="0">
                <a:solidFill>
                  <a:srgbClr val="FF0000"/>
                </a:solidFill>
                <a:latin typeface="+mj-lt"/>
              </a:rPr>
              <a:t>A</a:t>
            </a:r>
            <a:r>
              <a:rPr lang="hi-IN" sz="2600" b="1" dirty="0" smtClean="0">
                <a:latin typeface="+mj-lt"/>
              </a:rPr>
              <a:t>  =</a:t>
            </a:r>
          </a:p>
          <a:p>
            <a:r>
              <a:rPr lang="hi-IN" sz="2600" b="1" dirty="0" smtClean="0">
                <a:solidFill>
                  <a:srgbClr val="FF0000"/>
                </a:solidFill>
                <a:latin typeface="+mj-lt"/>
              </a:rPr>
              <a:t>B</a:t>
            </a:r>
            <a:r>
              <a:rPr lang="hi-IN" sz="2600" b="1" dirty="0" smtClean="0">
                <a:latin typeface="+mj-lt"/>
              </a:rPr>
              <a:t>  =</a:t>
            </a:r>
          </a:p>
          <a:p>
            <a:r>
              <a:rPr lang="hi-IN" sz="2600" b="1" dirty="0" smtClean="0">
                <a:solidFill>
                  <a:srgbClr val="FF0000"/>
                </a:solidFill>
                <a:latin typeface="+mj-lt"/>
              </a:rPr>
              <a:t>C</a:t>
            </a:r>
            <a:r>
              <a:rPr lang="hi-IN" sz="2600" b="1" dirty="0" smtClean="0">
                <a:latin typeface="+mj-lt"/>
              </a:rPr>
              <a:t>  =</a:t>
            </a:r>
          </a:p>
          <a:p>
            <a:r>
              <a:rPr lang="hi-IN" sz="2600" b="1" dirty="0" smtClean="0">
                <a:solidFill>
                  <a:srgbClr val="FF0000"/>
                </a:solidFill>
                <a:latin typeface="+mj-lt"/>
              </a:rPr>
              <a:t>D</a:t>
            </a:r>
            <a:r>
              <a:rPr lang="hi-IN" sz="2600" b="1" dirty="0" smtClean="0">
                <a:latin typeface="+mj-lt"/>
              </a:rPr>
              <a:t>  =</a:t>
            </a:r>
            <a:endParaRPr lang="en-US" sz="2600" b="1" dirty="0">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700"/>
                                  </p:stCondLst>
                                  <p:iterate type="lt">
                                    <p:tmAbs val="400"/>
                                  </p:iterate>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0" presetClass="path" presetSubtype="0" accel="50000" decel="50000" fill="hold" nodeType="withEffect">
                                  <p:stCondLst>
                                    <p:cond delay="200"/>
                                  </p:stCondLst>
                                  <p:childTnLst>
                                    <p:animMotion origin="layout" path="M 1.38889E-6 -4.44444E-6 L -0.05052 -0.01736 L -0.02135 -0.01597 L -0.03541 -0.01667 L -0.03594 0.00764 C -0.03611 0.00162 -0.03316 -0.01065 -0.03906 -0.01319 C -0.04114 -0.01296 -0.04357 -0.01342 -0.04531 -0.0118 C -0.04653 -0.01065 -0.04844 -0.00764 -0.04844 -0.00764 C -0.04774 0.00324 -0.04826 0.00093 -0.04323 0.00556 C -0.04166 0.00533 -0.03993 0.00556 -0.03854 0.00486 C -0.03802 0.00463 -0.03837 0.00347 -0.03802 0.00278 C -0.03732 0.00139 -0.03594 -0.00139 -0.03594 -0.00139 C -0.03541 -0.00555 -0.03559 -0.00972 -0.03229 -0.01111 C -0.02934 -0.01065 -0.02691 -0.01042 -0.02448 -0.00833 C -0.02326 -0.00324 -0.02378 -0.00555 -0.02291 -0.00139 C -0.02413 0.00556 -0.02795 0.00417 -0.03229 0.00417 L -0.01302 -0.01597 L -0.01302 0.00278 L -0.01979 -0.00625 L -0.00521 -0.00625 L 0.09479 -0.00903 L 0.10938 -0.00903 L 0.09271 -0.00278 L 0.10729 -0.00208 L 0.20261 -0.01805 L 0.20209 0.00625 L 0.20209 -0.01875 L 0.19427 -0.00139 L 0.20521 -0.00069 L -0.05156 0.04167 L -0.02239 0.04167 L -0.03698 0.04167 L -0.0375 0.06389 C -0.03802 0.05139 -0.03594 0.04908 -0.04271 0.04445 C -0.04705 0.04514 -0.04878 0.0463 -0.0526 0.04792 C -0.05382 0.05046 -0.05347 0.05533 -0.05156 0.05764 C -0.05069 0.0588 -0.04948 0.05949 -0.04844 0.06042 C -0.04757 0.06134 -0.04531 0.06181 -0.04531 0.06181 C -0.04305 0.06158 -0.0408 0.06181 -0.03854 0.06111 C -0.03698 0.06065 -0.03628 0.04977 -0.03333 0.04722 C -0.0309 0.04745 -0.02639 0.04607 -0.02604 0.04931 C -0.02517 0.05787 -0.02743 0.06111 -0.03333 0.06111 L 0.09427 0.04931 L 0.10938 0.04931 L 0.09271 0.05486 L 0.10834 0.05695 L 0.19323 0.04306 C 0.19566 0.04259 0.19827 0.04074 0.20052 0.04167 C 0.20313 0.0463 0.20243 0.05023 0.19844 0.05208 C 0.2 0.05347 0.20156 0.05417 0.20313 0.05556 C 0.20764 0.06458 0.19896 0.06458 0.19427 0.06458 L -0.05208 0.09861 L -0.01927 0.1 C -0.06285 0.09908 -0.05607 0.09653 -0.04219 0.10278 C -0.03993 0.10718 -0.03923 0.10787 -0.04219 0.11181 C -0.04323 0.11597 -0.04583 0.11783 -0.04896 0.11875 C -0.04687 0.1206 -0.04479 0.12245 -0.04271 0.12431 C -0.03611 0.12361 -0.03854 0.12361 -0.03541 0.12361 L -0.02396 0.09792 C -0.0243 0.10718 -0.025 0.11528 -0.025 0.12431 C -0.02448 0.1081 -0.02135 0.10949 -0.02812 0.10486 C -0.03559 0.10579 -0.03142 0.10602 -0.03646 0.10833 C -0.03732 0.11458 -0.03628 0.11991 -0.03125 0.12153 C -0.02969 0.1213 -0.02795 0.12153 -0.02656 0.12083 C -0.02604 0.1206 -0.02621 0.11945 -0.02604 0.11875 C -0.02569 0.11806 -0.025 0.11667 -0.025 0.11667 L 0.09271 0.10695 L 0.10886 0.10764 L 0.09167 0.1132 L 0.10781 0.11458 C 0.13681 0.11042 0.17413 0.12824 0.19479 0.1007 C 0.19722 0.09745 0.19427 0.09931 0.1974 0.09792 C 0.20261 0.09908 0.20018 0.1007 0.20261 0.10556 C 0.20191 0.11134 0.20052 0.11204 0.19688 0.11528 C 0.19584 0.1162 0.19375 0.11806 0.19375 0.11806 C 0.18906 0.12732 0.19618 0.12361 0.20469 0.12361 L -0.05156 0.15695 L -0.02812 0.15764 C -0.03611 0.15741 -0.0441 0.15695 -0.05208 0.15695 C -0.05416 0.15695 -0.04791 0.15718 -0.04583 0.15764 C -0.04514 0.15787 -0.04479 0.15857 -0.04427 0.15903 C -0.04184 0.16412 -0.04305 0.16204 -0.04062 0.16528 C -0.03941 0.16991 -0.04132 0.17546 -0.04479 0.17708 C -0.04878 0.17616 -0.04809 0.17616 -0.04896 0.17153 C -0.04844 0.16945 -0.04531 0.16667 -0.04531 0.16667 C -0.04305 0.16736 -0.04166 0.16713 -0.04166 0.17083 L -0.03333 0.15833 L -0.03281 0.18056 L 0.09427 0.16458 L 0.10834 0.16528 L 0.09219 0.17153 L 0.10781 0.17222 L 0.20052 0.15695 L 0.2 0.18056 L -0.05208 0.21528 L -0.03177 0.21597 C -0.04236 0.21644 -0.04548 0.21134 -0.04791 0.22083 C -0.04739 0.22454 -0.04705 0.22593 -0.04427 0.22708 C -0.0467 0.22778 -0.04757 0.22847 -0.04896 0.23125 C -0.04791 0.2382 -0.04531 0.23519 -0.03958 0.23472 C -0.03698 0.2338 -0.03802 0.23472 -0.03646 0.23264 L -0.03489 0.21528 L -0.03594 0.23958 L 0.09584 0.22153 L 0.1099 0.22292 L 0.09479 0.22986 L 0.11094 0.22917 C 0.18802 0.21574 0.21893 0.18658 0.19427 0.21945 C 0.19236 0.22708 0.19306 0.23611 0.19948 0.23889 C 0.2007 0.23866 0.20209 0.23912 0.20313 0.2382 C 0.20399 0.23727 0.20417 0.23403 0.20417 0.23403 C 0.20382 0.22477 0.20643 0.2162 0.19948 0.21458 C 0.19393 0.21551 0.19479 0.2132 0.19479 0.21875 L 0.19271 0.22639 " pathEditMode="relative" ptsTypes="AAAAfffffffffffAAAAAAAAAAAAAAAAAfffffffffAAAAAffffAAfffffAfffffffAAAAffffffAAffffffffAAAAAAAAAAfffffAAAAAAffffffAA">
                                      <p:cBhvr>
                                        <p:cTn id="8" dur="7500" fill="hold"/>
                                        <p:tgtEl>
                                          <p:spTgt spid="6"/>
                                        </p:tgtEl>
                                        <p:attrNameLst>
                                          <p:attrName>ppt_x</p:attrName>
                                          <p:attrName>ppt_y</p:attrName>
                                        </p:attrNameLst>
                                      </p:cBhvr>
                                    </p:animMotion>
                                  </p:childTnLst>
                                </p:cTn>
                              </p:par>
                            </p:childTnLst>
                          </p:cTn>
                        </p:par>
                        <p:par>
                          <p:cTn id="9" fill="hold">
                            <p:stCondLst>
                              <p:cond delay="7700"/>
                            </p:stCondLst>
                            <p:childTnLst>
                              <p:par>
                                <p:cTn id="10" presetID="10" presetClass="exit" presetSubtype="0" fill="hold" nodeType="afterEffect">
                                  <p:stCondLst>
                                    <p:cond delay="0"/>
                                  </p:stCondLst>
                                  <p:childTnLst>
                                    <p:animEffect transition="out" filter="fade">
                                      <p:cBhvr>
                                        <p:cTn id="11" dur="2000"/>
                                        <p:tgtEl>
                                          <p:spTgt spid="6"/>
                                        </p:tgtEl>
                                      </p:cBhvr>
                                    </p:animEffect>
                                    <p:set>
                                      <p:cBhvr>
                                        <p:cTn id="12" dur="1" fill="hold">
                                          <p:stCondLst>
                                            <p:cond delay="1999"/>
                                          </p:stCondLst>
                                        </p:cTn>
                                        <p:tgtEl>
                                          <p:spTgt spid="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wipe(up)">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30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left)">
                                      <p:cBhvr>
                                        <p:cTn id="27" dur="3000"/>
                                        <p:tgtEl>
                                          <p:spTgt spid="14"/>
                                        </p:tgtEl>
                                      </p:cBhvr>
                                    </p:animEffect>
                                  </p:childTnLst>
                                </p:cTn>
                              </p:par>
                              <p:par>
                                <p:cTn id="28" presetID="22" presetClass="entr" presetSubtype="8" fill="hold" nodeType="with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wipe(left)">
                                      <p:cBhvr>
                                        <p:cTn id="30" dur="3000"/>
                                        <p:tgtEl>
                                          <p:spTgt spid="20"/>
                                        </p:tgtEl>
                                      </p:cBhvr>
                                    </p:animEffect>
                                  </p:childTnLst>
                                </p:cTn>
                              </p:par>
                              <p:par>
                                <p:cTn id="31" presetID="22" presetClass="entr" presetSubtype="8" fill="hold"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wipe(left)">
                                      <p:cBhvr>
                                        <p:cTn id="33" dur="3000"/>
                                        <p:tgtEl>
                                          <p:spTgt spid="12"/>
                                        </p:tgtEl>
                                      </p:cBhvr>
                                    </p:animEffect>
                                  </p:childTnLst>
                                </p:cTn>
                              </p:par>
                            </p:childTnLst>
                          </p:cTn>
                        </p:par>
                      </p:childTnLst>
                    </p:cTn>
                  </p:par>
                  <p:par>
                    <p:cTn id="34" fill="hold">
                      <p:stCondLst>
                        <p:cond delay="indefinite"/>
                      </p:stCondLst>
                      <p:childTnLst>
                        <p:par>
                          <p:cTn id="35" fill="hold">
                            <p:stCondLst>
                              <p:cond delay="0"/>
                            </p:stCondLst>
                            <p:childTnLst>
                              <p:par>
                                <p:cTn id="36" presetID="53" presetClass="entr" presetSubtype="0" fill="hold" nodeType="clickEffect">
                                  <p:stCondLst>
                                    <p:cond delay="0"/>
                                  </p:stCondLst>
                                  <p:childTnLst>
                                    <p:set>
                                      <p:cBhvr>
                                        <p:cTn id="37" dur="1" fill="hold">
                                          <p:stCondLst>
                                            <p:cond delay="0"/>
                                          </p:stCondLst>
                                        </p:cTn>
                                        <p:tgtEl>
                                          <p:spTgt spid="21">
                                            <p:txEl>
                                              <p:pRg st="0" end="0"/>
                                            </p:txEl>
                                          </p:spTgt>
                                        </p:tgtEl>
                                        <p:attrNameLst>
                                          <p:attrName>style.visibility</p:attrName>
                                        </p:attrNameLst>
                                      </p:cBhvr>
                                      <p:to>
                                        <p:strVal val="visible"/>
                                      </p:to>
                                    </p:set>
                                    <p:anim calcmode="lin" valueType="num">
                                      <p:cBhvr>
                                        <p:cTn id="38" dur="500" fill="hold"/>
                                        <p:tgtEl>
                                          <p:spTgt spid="21">
                                            <p:txEl>
                                              <p:pRg st="0" end="0"/>
                                            </p:txEl>
                                          </p:spTgt>
                                        </p:tgtEl>
                                        <p:attrNameLst>
                                          <p:attrName>ppt_w</p:attrName>
                                        </p:attrNameLst>
                                      </p:cBhvr>
                                      <p:tavLst>
                                        <p:tav tm="0">
                                          <p:val>
                                            <p:fltVal val="0"/>
                                          </p:val>
                                        </p:tav>
                                        <p:tav tm="100000">
                                          <p:val>
                                            <p:strVal val="#ppt_w"/>
                                          </p:val>
                                        </p:tav>
                                      </p:tavLst>
                                    </p:anim>
                                    <p:anim calcmode="lin" valueType="num">
                                      <p:cBhvr>
                                        <p:cTn id="39" dur="500" fill="hold"/>
                                        <p:tgtEl>
                                          <p:spTgt spid="21">
                                            <p:txEl>
                                              <p:pRg st="0" end="0"/>
                                            </p:txEl>
                                          </p:spTgt>
                                        </p:tgtEl>
                                        <p:attrNameLst>
                                          <p:attrName>ppt_h</p:attrName>
                                        </p:attrNameLst>
                                      </p:cBhvr>
                                      <p:tavLst>
                                        <p:tav tm="0">
                                          <p:val>
                                            <p:fltVal val="0"/>
                                          </p:val>
                                        </p:tav>
                                        <p:tav tm="100000">
                                          <p:val>
                                            <p:strVal val="#ppt_h"/>
                                          </p:val>
                                        </p:tav>
                                      </p:tavLst>
                                    </p:anim>
                                    <p:animEffect transition="in" filter="fade">
                                      <p:cBhvr>
                                        <p:cTn id="40" dur="500"/>
                                        <p:tgtEl>
                                          <p:spTgt spid="21">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xit" presetSubtype="0" fill="hold" nodeType="clickEffect">
                                  <p:stCondLst>
                                    <p:cond delay="0"/>
                                  </p:stCondLst>
                                  <p:childTnLst>
                                    <p:animEffect transition="out" filter="fade">
                                      <p:cBhvr>
                                        <p:cTn id="44" dur="2000"/>
                                        <p:tgtEl>
                                          <p:spTgt spid="14"/>
                                        </p:tgtEl>
                                      </p:cBhvr>
                                    </p:animEffect>
                                    <p:set>
                                      <p:cBhvr>
                                        <p:cTn id="45" dur="1" fill="hold">
                                          <p:stCondLst>
                                            <p:cond delay="1999"/>
                                          </p:stCondLst>
                                        </p:cTn>
                                        <p:tgtEl>
                                          <p:spTgt spid="14"/>
                                        </p:tgtEl>
                                        <p:attrNameLst>
                                          <p:attrName>style.visibility</p:attrName>
                                        </p:attrNameLst>
                                      </p:cBhvr>
                                      <p:to>
                                        <p:strVal val="hidden"/>
                                      </p:to>
                                    </p:set>
                                  </p:childTnLst>
                                </p:cTn>
                              </p:par>
                              <p:par>
                                <p:cTn id="46" presetID="10" presetClass="exit" presetSubtype="0" fill="hold" nodeType="withEffect">
                                  <p:stCondLst>
                                    <p:cond delay="0"/>
                                  </p:stCondLst>
                                  <p:childTnLst>
                                    <p:animEffect transition="out" filter="fade">
                                      <p:cBhvr>
                                        <p:cTn id="47" dur="2000"/>
                                        <p:tgtEl>
                                          <p:spTgt spid="20"/>
                                        </p:tgtEl>
                                      </p:cBhvr>
                                    </p:animEffect>
                                    <p:set>
                                      <p:cBhvr>
                                        <p:cTn id="48" dur="1" fill="hold">
                                          <p:stCondLst>
                                            <p:cond delay="1999"/>
                                          </p:stCondLst>
                                        </p:cTn>
                                        <p:tgtEl>
                                          <p:spTgt spid="20"/>
                                        </p:tgtEl>
                                        <p:attrNameLst>
                                          <p:attrName>style.visibility</p:attrName>
                                        </p:attrNameLst>
                                      </p:cBhvr>
                                      <p:to>
                                        <p:strVal val="hidden"/>
                                      </p:to>
                                    </p:set>
                                  </p:childTnLst>
                                </p:cTn>
                              </p:par>
                              <p:par>
                                <p:cTn id="49" presetID="10" presetClass="exit" presetSubtype="0" fill="hold" nodeType="withEffect">
                                  <p:stCondLst>
                                    <p:cond delay="0"/>
                                  </p:stCondLst>
                                  <p:childTnLst>
                                    <p:animEffect transition="out" filter="fade">
                                      <p:cBhvr>
                                        <p:cTn id="50" dur="2000"/>
                                        <p:tgtEl>
                                          <p:spTgt spid="12"/>
                                        </p:tgtEl>
                                      </p:cBhvr>
                                    </p:animEffect>
                                    <p:set>
                                      <p:cBhvr>
                                        <p:cTn id="51" dur="1" fill="hold">
                                          <p:stCondLst>
                                            <p:cond delay="1999"/>
                                          </p:stCondLst>
                                        </p:cTn>
                                        <p:tgtEl>
                                          <p:spTgt spid="12"/>
                                        </p:tgtEl>
                                        <p:attrNameLst>
                                          <p:attrName>style.visibility</p:attrName>
                                        </p:attrNameLst>
                                      </p:cBhvr>
                                      <p:to>
                                        <p:strVal val="hidden"/>
                                      </p:to>
                                    </p:set>
                                  </p:childTnLst>
                                </p:cTn>
                              </p:par>
                              <p:par>
                                <p:cTn id="52" presetID="10" presetClass="exit" presetSubtype="0" fill="hold" grpId="1" nodeType="withEffect">
                                  <p:stCondLst>
                                    <p:cond delay="0"/>
                                  </p:stCondLst>
                                  <p:childTnLst>
                                    <p:animEffect transition="out" filter="fade">
                                      <p:cBhvr>
                                        <p:cTn id="53" dur="2000"/>
                                        <p:tgtEl>
                                          <p:spTgt spid="21">
                                            <p:txEl>
                                              <p:pRg st="0" end="0"/>
                                            </p:txEl>
                                          </p:spTgt>
                                        </p:tgtEl>
                                      </p:cBhvr>
                                    </p:animEffect>
                                    <p:set>
                                      <p:cBhvr>
                                        <p:cTn id="54" dur="1" fill="hold">
                                          <p:stCondLst>
                                            <p:cond delay="1999"/>
                                          </p:stCondLst>
                                        </p:cTn>
                                        <p:tgtEl>
                                          <p:spTgt spid="21">
                                            <p:txEl>
                                              <p:pRg st="0" end="0"/>
                                            </p:txEl>
                                          </p:spTgt>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25"/>
                                        </p:tgtEl>
                                        <p:attrNameLst>
                                          <p:attrName>style.visibility</p:attrName>
                                        </p:attrNameLst>
                                      </p:cBhvr>
                                      <p:to>
                                        <p:strVal val="visible"/>
                                      </p:to>
                                    </p:set>
                                    <p:animEffect transition="in" filter="wipe(left)">
                                      <p:cBhvr>
                                        <p:cTn id="59" dur="2000"/>
                                        <p:tgtEl>
                                          <p:spTgt spid="25"/>
                                        </p:tgtEl>
                                      </p:cBhvr>
                                    </p:animEffect>
                                  </p:childTnLst>
                                </p:cTn>
                              </p:par>
                              <p:par>
                                <p:cTn id="60" presetID="22" presetClass="entr" presetSubtype="8" fill="hold" nodeType="withEffect">
                                  <p:stCondLst>
                                    <p:cond delay="0"/>
                                  </p:stCondLst>
                                  <p:childTnLst>
                                    <p:set>
                                      <p:cBhvr>
                                        <p:cTn id="61" dur="1" fill="hold">
                                          <p:stCondLst>
                                            <p:cond delay="0"/>
                                          </p:stCondLst>
                                        </p:cTn>
                                        <p:tgtEl>
                                          <p:spTgt spid="18"/>
                                        </p:tgtEl>
                                        <p:attrNameLst>
                                          <p:attrName>style.visibility</p:attrName>
                                        </p:attrNameLst>
                                      </p:cBhvr>
                                      <p:to>
                                        <p:strVal val="visible"/>
                                      </p:to>
                                    </p:set>
                                    <p:animEffect transition="in" filter="wipe(left)">
                                      <p:cBhvr>
                                        <p:cTn id="62" dur="2000"/>
                                        <p:tgtEl>
                                          <p:spTgt spid="18"/>
                                        </p:tgtEl>
                                      </p:cBhvr>
                                    </p:animEffect>
                                  </p:childTnLst>
                                </p:cTn>
                              </p:par>
                              <p:par>
                                <p:cTn id="63" presetID="22" presetClass="entr" presetSubtype="8" fill="hold" grpId="0" nodeType="withEffect">
                                  <p:stCondLst>
                                    <p:cond delay="0"/>
                                  </p:stCondLst>
                                  <p:childTnLst>
                                    <p:set>
                                      <p:cBhvr>
                                        <p:cTn id="64" dur="1" fill="hold">
                                          <p:stCondLst>
                                            <p:cond delay="0"/>
                                          </p:stCondLst>
                                        </p:cTn>
                                        <p:tgtEl>
                                          <p:spTgt spid="30"/>
                                        </p:tgtEl>
                                        <p:attrNameLst>
                                          <p:attrName>style.visibility</p:attrName>
                                        </p:attrNameLst>
                                      </p:cBhvr>
                                      <p:to>
                                        <p:strVal val="visible"/>
                                      </p:to>
                                    </p:set>
                                    <p:animEffect transition="in" filter="wipe(left)">
                                      <p:cBhvr>
                                        <p:cTn id="65" dur="3000"/>
                                        <p:tgtEl>
                                          <p:spTgt spid="30"/>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xit" presetSubtype="0" fill="hold" nodeType="clickEffect">
                                  <p:stCondLst>
                                    <p:cond delay="0"/>
                                  </p:stCondLst>
                                  <p:childTnLst>
                                    <p:animEffect transition="out" filter="fade">
                                      <p:cBhvr>
                                        <p:cTn id="69" dur="2000"/>
                                        <p:tgtEl>
                                          <p:spTgt spid="25"/>
                                        </p:tgtEl>
                                      </p:cBhvr>
                                    </p:animEffect>
                                    <p:set>
                                      <p:cBhvr>
                                        <p:cTn id="70" dur="1" fill="hold">
                                          <p:stCondLst>
                                            <p:cond delay="1999"/>
                                          </p:stCondLst>
                                        </p:cTn>
                                        <p:tgtEl>
                                          <p:spTgt spid="25"/>
                                        </p:tgtEl>
                                        <p:attrNameLst>
                                          <p:attrName>style.visibility</p:attrName>
                                        </p:attrNameLst>
                                      </p:cBhvr>
                                      <p:to>
                                        <p:strVal val="hidden"/>
                                      </p:to>
                                    </p:set>
                                  </p:childTnLst>
                                </p:cTn>
                              </p:par>
                              <p:par>
                                <p:cTn id="71" presetID="10" presetClass="exit" presetSubtype="0" fill="hold" nodeType="withEffect">
                                  <p:stCondLst>
                                    <p:cond delay="0"/>
                                  </p:stCondLst>
                                  <p:childTnLst>
                                    <p:animEffect transition="out" filter="fade">
                                      <p:cBhvr>
                                        <p:cTn id="72" dur="2000"/>
                                        <p:tgtEl>
                                          <p:spTgt spid="18"/>
                                        </p:tgtEl>
                                      </p:cBhvr>
                                    </p:animEffect>
                                    <p:set>
                                      <p:cBhvr>
                                        <p:cTn id="73" dur="1" fill="hold">
                                          <p:stCondLst>
                                            <p:cond delay="1999"/>
                                          </p:stCondLst>
                                        </p:cTn>
                                        <p:tgtEl>
                                          <p:spTgt spid="18"/>
                                        </p:tgtEl>
                                        <p:attrNameLst>
                                          <p:attrName>style.visibility</p:attrName>
                                        </p:attrNameLst>
                                      </p:cBhvr>
                                      <p:to>
                                        <p:strVal val="hidden"/>
                                      </p:to>
                                    </p:set>
                                  </p:childTnLst>
                                </p:cTn>
                              </p:par>
                              <p:par>
                                <p:cTn id="74" presetID="10" presetClass="exit" presetSubtype="0" fill="hold" nodeType="withEffect">
                                  <p:stCondLst>
                                    <p:cond delay="0"/>
                                  </p:stCondLst>
                                  <p:childTnLst>
                                    <p:animEffect transition="out" filter="fade">
                                      <p:cBhvr>
                                        <p:cTn id="75" dur="2000"/>
                                        <p:tgtEl>
                                          <p:spTgt spid="30"/>
                                        </p:tgtEl>
                                      </p:cBhvr>
                                    </p:animEffect>
                                    <p:set>
                                      <p:cBhvr>
                                        <p:cTn id="76" dur="1" fill="hold">
                                          <p:stCondLst>
                                            <p:cond delay="1999"/>
                                          </p:stCondLst>
                                        </p:cTn>
                                        <p:tgtEl>
                                          <p:spTgt spid="30"/>
                                        </p:tgtEl>
                                        <p:attrNameLst>
                                          <p:attrName>style.visibility</p:attrName>
                                        </p:attrNameLst>
                                      </p:cBhvr>
                                      <p:to>
                                        <p:strVal val="hidden"/>
                                      </p:to>
                                    </p:set>
                                  </p:childTnLst>
                                </p:cTn>
                              </p:par>
                            </p:childTnLst>
                          </p:cTn>
                        </p:par>
                      </p:childTnLst>
                    </p:cTn>
                  </p:par>
                  <p:par>
                    <p:cTn id="77" fill="hold">
                      <p:stCondLst>
                        <p:cond delay="indefinite"/>
                      </p:stCondLst>
                      <p:childTnLst>
                        <p:par>
                          <p:cTn id="78" fill="hold">
                            <p:stCondLst>
                              <p:cond delay="0"/>
                            </p:stCondLst>
                            <p:childTnLst>
                              <p:par>
                                <p:cTn id="79" presetID="3" presetClass="entr" presetSubtype="10" fill="hold" grpId="0" nodeType="clickEffect">
                                  <p:stCondLst>
                                    <p:cond delay="0"/>
                                  </p:stCondLst>
                                  <p:childTnLst>
                                    <p:set>
                                      <p:cBhvr>
                                        <p:cTn id="80" dur="1" fill="hold">
                                          <p:stCondLst>
                                            <p:cond delay="0"/>
                                          </p:stCondLst>
                                        </p:cTn>
                                        <p:tgtEl>
                                          <p:spTgt spid="19"/>
                                        </p:tgtEl>
                                        <p:attrNameLst>
                                          <p:attrName>style.visibility</p:attrName>
                                        </p:attrNameLst>
                                      </p:cBhvr>
                                      <p:to>
                                        <p:strVal val="visible"/>
                                      </p:to>
                                    </p:set>
                                    <p:animEffect transition="in" filter="blinds(horizontal)">
                                      <p:cBhvr>
                                        <p:cTn id="81"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1" grpId="1" build="allAtOnce"/>
      <p:bldP spid="30" grpId="0"/>
      <p:bldP spid="19" grpId="0"/>
      <p:bldP spid="1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571472" y="2250129"/>
            <a:ext cx="8072494" cy="4462760"/>
          </a:xfrm>
          <a:prstGeom prst="rect">
            <a:avLst/>
          </a:prstGeom>
          <a:noFill/>
        </p:spPr>
        <p:txBody>
          <a:bodyPr wrap="square" rtlCol="0">
            <a:spAutoFit/>
          </a:bodyPr>
          <a:lstStyle/>
          <a:p>
            <a:pPr marL="457200" indent="-457200" algn="just">
              <a:buFont typeface="+mj-lt"/>
              <a:buAutoNum type="arabicPeriod"/>
            </a:pPr>
            <a:r>
              <a:rPr lang="hi-IN" b="1" dirty="0" smtClean="0">
                <a:solidFill>
                  <a:srgbClr val="C00000"/>
                </a:solidFill>
                <a:latin typeface="Aparajita" pitchFamily="18" charset="0"/>
                <a:cs typeface="Aparajita" pitchFamily="18" charset="0"/>
              </a:rPr>
              <a:t>विगत </a:t>
            </a:r>
            <a:r>
              <a:rPr lang="hi-IN" b="1" dirty="0" smtClean="0">
                <a:solidFill>
                  <a:srgbClr val="C00000"/>
                </a:solidFill>
                <a:latin typeface="Aparajita" pitchFamily="18" charset="0"/>
                <a:cs typeface="Aparajita" pitchFamily="18" charset="0"/>
              </a:rPr>
              <a:t>5 वर्षों की CR के अंकों के योग के आधार पर अर्हता – </a:t>
            </a:r>
          </a:p>
          <a:p>
            <a:pPr marL="914400" lvl="1" indent="-457200" algn="just">
              <a:buFont typeface="+mj-lt"/>
              <a:buAutoNum type="alphaUcPeriod"/>
            </a:pPr>
            <a:r>
              <a:rPr lang="hi-IN" b="1" dirty="0" smtClean="0">
                <a:solidFill>
                  <a:srgbClr val="002060"/>
                </a:solidFill>
                <a:latin typeface="Aparajita" pitchFamily="18" charset="0"/>
                <a:cs typeface="Aparajita" pitchFamily="18" charset="0"/>
              </a:rPr>
              <a:t>CLASS-I TO </a:t>
            </a:r>
            <a:r>
              <a:rPr lang="hi-IN" b="1" dirty="0" smtClean="0">
                <a:solidFill>
                  <a:srgbClr val="002060"/>
                </a:solidFill>
                <a:latin typeface="Aparajita" pitchFamily="18" charset="0"/>
                <a:cs typeface="Aparajita" pitchFamily="18" charset="0"/>
              </a:rPr>
              <a:t>CLASS-I	</a:t>
            </a:r>
            <a:r>
              <a:rPr lang="hi-IN" b="1" dirty="0" smtClean="0">
                <a:solidFill>
                  <a:srgbClr val="002060"/>
                </a:solidFill>
                <a:latin typeface="Aparajita" pitchFamily="18" charset="0"/>
                <a:cs typeface="Aparajita" pitchFamily="18" charset="0"/>
              </a:rPr>
              <a:t>	&gt; = 	15 अंक </a:t>
            </a:r>
            <a:endParaRPr lang="hi-IN" b="1" dirty="0" smtClean="0">
              <a:solidFill>
                <a:srgbClr val="002060"/>
              </a:solidFill>
              <a:latin typeface="Aparajita" pitchFamily="18" charset="0"/>
              <a:cs typeface="Aparajita" pitchFamily="18" charset="0"/>
            </a:endParaRPr>
          </a:p>
          <a:p>
            <a:pPr marL="900113" lvl="2" indent="14288" algn="just"/>
            <a:r>
              <a:rPr lang="hi-IN" sz="1600" b="1" dirty="0" smtClean="0">
                <a:solidFill>
                  <a:srgbClr val="00B050"/>
                </a:solidFill>
                <a:latin typeface="Aparajita" pitchFamily="18" charset="0"/>
                <a:cs typeface="Aparajita" pitchFamily="18" charset="0"/>
              </a:rPr>
              <a:t>NOTE - आरक्षित वर्ग के लिए 10 अंक तक शिथिल किया जा सकता है यदि विचार क्षेत्र बढ़ने के बाद भी आवश्यक संख्या में आरक्षित वर्ग के अधिकारी प्राप्त न हों.</a:t>
            </a:r>
            <a:endParaRPr lang="hi-IN" b="1" dirty="0" smtClean="0">
              <a:solidFill>
                <a:srgbClr val="00B050"/>
              </a:solidFill>
              <a:latin typeface="Aparajita" pitchFamily="18" charset="0"/>
              <a:cs typeface="Aparajita" pitchFamily="18" charset="0"/>
            </a:endParaRPr>
          </a:p>
          <a:p>
            <a:pPr marL="914400" lvl="1" indent="-457200" algn="just">
              <a:buFont typeface="+mj-lt"/>
              <a:buAutoNum type="alphaUcPeriod"/>
            </a:pPr>
            <a:r>
              <a:rPr lang="hi-IN" b="1" dirty="0" smtClean="0">
                <a:solidFill>
                  <a:srgbClr val="002060"/>
                </a:solidFill>
                <a:latin typeface="Aparajita" pitchFamily="18" charset="0"/>
                <a:cs typeface="Aparajita" pitchFamily="18" charset="0"/>
              </a:rPr>
              <a:t>CLASS-II- TO CLASS-I	&gt; = 	13 अंक  </a:t>
            </a:r>
          </a:p>
          <a:p>
            <a:pPr marL="914400" lvl="1" indent="-457200" algn="just">
              <a:buFont typeface="+mj-lt"/>
              <a:buAutoNum type="alphaUcPeriod"/>
            </a:pPr>
            <a:r>
              <a:rPr lang="hi-IN" b="1" dirty="0" smtClean="0">
                <a:solidFill>
                  <a:srgbClr val="002060"/>
                </a:solidFill>
                <a:latin typeface="Aparajita" pitchFamily="18" charset="0"/>
                <a:cs typeface="Aparajita" pitchFamily="18" charset="0"/>
              </a:rPr>
              <a:t>CLASS-II TO CLASS-II	&gt; = 	11 अंक  </a:t>
            </a:r>
          </a:p>
          <a:p>
            <a:pPr marL="914400" lvl="1" indent="-457200" algn="just">
              <a:buFont typeface="+mj-lt"/>
              <a:buAutoNum type="alphaUcPeriod"/>
            </a:pPr>
            <a:r>
              <a:rPr lang="hi-IN" b="1" dirty="0" smtClean="0">
                <a:solidFill>
                  <a:srgbClr val="002060"/>
                </a:solidFill>
                <a:latin typeface="Aparajita" pitchFamily="18" charset="0"/>
                <a:cs typeface="Aparajita" pitchFamily="18" charset="0"/>
              </a:rPr>
              <a:t>शेष 			&gt; = 	10 अंक  </a:t>
            </a:r>
          </a:p>
          <a:p>
            <a:pPr marL="914400" lvl="1" indent="-457200" algn="just">
              <a:buFont typeface="+mj-lt"/>
              <a:buAutoNum type="alphaUcPeriod"/>
            </a:pPr>
            <a:endParaRPr lang="hi-IN" b="1" dirty="0" smtClean="0">
              <a:solidFill>
                <a:srgbClr val="C00000"/>
              </a:solidFill>
              <a:latin typeface="Aparajita" pitchFamily="18" charset="0"/>
              <a:cs typeface="Aparajita" pitchFamily="18" charset="0"/>
            </a:endParaRPr>
          </a:p>
          <a:p>
            <a:pPr marL="457200" indent="-457200" algn="just">
              <a:buFont typeface="+mj-lt"/>
              <a:buAutoNum type="arabicPeriod"/>
            </a:pPr>
            <a:r>
              <a:rPr lang="hi-IN" b="1" dirty="0" smtClean="0">
                <a:solidFill>
                  <a:srgbClr val="C00000"/>
                </a:solidFill>
                <a:latin typeface="Aparajita" pitchFamily="18" charset="0"/>
                <a:cs typeface="Aparajita" pitchFamily="18" charset="0"/>
              </a:rPr>
              <a:t>पदोन्नति हेतु विचाराधीन </a:t>
            </a:r>
            <a:r>
              <a:rPr lang="hi-IN" b="1" dirty="0" smtClean="0">
                <a:solidFill>
                  <a:srgbClr val="C00000"/>
                </a:solidFill>
                <a:latin typeface="Aparajita" pitchFamily="18" charset="0"/>
                <a:cs typeface="Aparajita" pitchFamily="18" charset="0"/>
              </a:rPr>
              <a:t>अधिकारीकी </a:t>
            </a:r>
            <a:r>
              <a:rPr lang="hi-IN" b="1" dirty="0" smtClean="0">
                <a:solidFill>
                  <a:srgbClr val="C00000"/>
                </a:solidFill>
                <a:latin typeface="Aparajita" pitchFamily="18" charset="0"/>
                <a:cs typeface="Aparajita" pitchFamily="18" charset="0"/>
              </a:rPr>
              <a:t>विगत 5 वर्षों की CR में </a:t>
            </a:r>
            <a:r>
              <a:rPr lang="hi-IN" b="1" dirty="0" smtClean="0">
                <a:solidFill>
                  <a:srgbClr val="C00000"/>
                </a:solidFill>
                <a:latin typeface="Aparajita" pitchFamily="18" charset="0"/>
                <a:cs typeface="Aparajita" pitchFamily="18" charset="0"/>
              </a:rPr>
              <a:t>सभी CR “क+(4 )” अर्थात CR के अंकों का योग 20 हो तो अधिकारी सुपर सीट कर प्रक्रिया हेतु काल्पनिक वरिष्ठता प्राप्त करेगा. सुपर सीट के एक से अधिक प्रकरणों में वास्तविक वरिष्ठता निर्णायक होगी.</a:t>
            </a:r>
            <a:endParaRPr lang="hi-IN" b="1" dirty="0" smtClean="0">
              <a:solidFill>
                <a:srgbClr val="C00000"/>
              </a:solidFill>
              <a:latin typeface="Aparajita" pitchFamily="18" charset="0"/>
              <a:cs typeface="Aparajita" pitchFamily="18" charset="0"/>
            </a:endParaRPr>
          </a:p>
          <a:p>
            <a:pPr marL="457200" indent="-457200" algn="just">
              <a:buFont typeface="+mj-lt"/>
              <a:buAutoNum type="arabicPeriod"/>
            </a:pPr>
            <a:r>
              <a:rPr lang="hi-IN" b="1" dirty="0" smtClean="0">
                <a:solidFill>
                  <a:srgbClr val="C00000"/>
                </a:solidFill>
                <a:latin typeface="Aparajita" pitchFamily="18" charset="0"/>
                <a:cs typeface="Aparajita" pitchFamily="18" charset="0"/>
              </a:rPr>
              <a:t>CLASS-I </a:t>
            </a:r>
            <a:r>
              <a:rPr lang="hi-IN" b="1" dirty="0" smtClean="0">
                <a:solidFill>
                  <a:srgbClr val="C00000"/>
                </a:solidFill>
                <a:latin typeface="Aparajita" pitchFamily="18" charset="0"/>
                <a:cs typeface="Aparajita" pitchFamily="18" charset="0"/>
              </a:rPr>
              <a:t>TO CLASS-I पदोन्नति के मामलों में विचाराधीन </a:t>
            </a:r>
            <a:r>
              <a:rPr lang="hi-IN" b="1" dirty="0" smtClean="0">
                <a:solidFill>
                  <a:srgbClr val="C00000"/>
                </a:solidFill>
                <a:latin typeface="Aparajita" pitchFamily="18" charset="0"/>
                <a:cs typeface="Aparajita" pitchFamily="18" charset="0"/>
              </a:rPr>
              <a:t>अधिकारी की </a:t>
            </a:r>
            <a:r>
              <a:rPr lang="hi-IN" b="1" dirty="0" smtClean="0">
                <a:solidFill>
                  <a:srgbClr val="C00000"/>
                </a:solidFill>
                <a:latin typeface="Aparajita" pitchFamily="18" charset="0"/>
                <a:cs typeface="Aparajita" pitchFamily="18" charset="0"/>
              </a:rPr>
              <a:t>अंतिम वर्ष की CR “ग(1)” नहीं होनी चाहिए</a:t>
            </a:r>
            <a:r>
              <a:rPr lang="hi-IN" b="1" dirty="0" smtClean="0">
                <a:solidFill>
                  <a:srgbClr val="C00000"/>
                </a:solidFill>
                <a:latin typeface="Aparajita" pitchFamily="18" charset="0"/>
                <a:cs typeface="Aparajita" pitchFamily="18" charset="0"/>
              </a:rPr>
              <a:t>.</a:t>
            </a:r>
          </a:p>
          <a:p>
            <a:pPr marL="457200" indent="-457200" algn="just">
              <a:buFont typeface="+mj-lt"/>
              <a:buAutoNum type="arabicPeriod"/>
            </a:pPr>
            <a:r>
              <a:rPr lang="hi-IN" b="1" dirty="0" smtClean="0">
                <a:solidFill>
                  <a:srgbClr val="C00000"/>
                </a:solidFill>
                <a:latin typeface="Aparajita" pitchFamily="18" charset="0"/>
                <a:cs typeface="Aparajita" pitchFamily="18" charset="0"/>
              </a:rPr>
              <a:t>पदोन्नति हेतु विचाराधीन अधिकारी/ कर्मचारी की विगत 5 वर्षों की CR में से कोई भी CR “घ(0)” नहीं होनी चाहिए</a:t>
            </a:r>
            <a:r>
              <a:rPr lang="hi-IN" b="1" dirty="0" smtClean="0">
                <a:solidFill>
                  <a:srgbClr val="C00000"/>
                </a:solidFill>
                <a:latin typeface="Aparajita" pitchFamily="18" charset="0"/>
                <a:cs typeface="Aparajita" pitchFamily="18" charset="0"/>
              </a:rPr>
              <a:t>.</a:t>
            </a:r>
            <a:endParaRPr lang="hi-IN" b="1" dirty="0" smtClean="0">
              <a:solidFill>
                <a:srgbClr val="C00000"/>
              </a:solidFill>
              <a:latin typeface="Aparajita" pitchFamily="18" charset="0"/>
              <a:cs typeface="Aparajita" pitchFamily="18" charset="0"/>
            </a:endParaRPr>
          </a:p>
          <a:p>
            <a:endParaRPr lang="en-US" dirty="0"/>
          </a:p>
        </p:txBody>
      </p:sp>
      <p:sp>
        <p:nvSpPr>
          <p:cNvPr id="16" name="Rectangle 15"/>
          <p:cNvSpPr/>
          <p:nvPr/>
        </p:nvSpPr>
        <p:spPr>
          <a:xfrm>
            <a:off x="428596" y="556490"/>
            <a:ext cx="8358246" cy="1815882"/>
          </a:xfrm>
          <a:prstGeom prst="rect">
            <a:avLst/>
          </a:prstGeom>
        </p:spPr>
        <p:txBody>
          <a:bodyPr wrap="square">
            <a:spAutoFit/>
          </a:bodyPr>
          <a:lstStyle/>
          <a:p>
            <a:pPr algn="ctr"/>
            <a:r>
              <a:rPr lang="hi-IN" sz="4000" dirty="0" smtClean="0">
                <a:solidFill>
                  <a:srgbClr val="E71D57"/>
                </a:solidFill>
                <a:latin typeface="Aparajita" pitchFamily="18" charset="0"/>
                <a:cs typeface="Aparajita" pitchFamily="18" charset="0"/>
              </a:rPr>
              <a:t>विभागीय पदोन्नति की प्रक्रिया से सम्बंधित कुछ आधारभूत  जानकारियां </a:t>
            </a:r>
            <a:br>
              <a:rPr lang="hi-IN" sz="4000" dirty="0" smtClean="0">
                <a:solidFill>
                  <a:srgbClr val="E71D57"/>
                </a:solidFill>
                <a:latin typeface="Aparajita" pitchFamily="18" charset="0"/>
                <a:cs typeface="Aparajita" pitchFamily="18" charset="0"/>
              </a:rPr>
            </a:br>
            <a:r>
              <a:rPr lang="en-IN" sz="2800" dirty="0" smtClean="0">
                <a:solidFill>
                  <a:srgbClr val="E71D57"/>
                </a:solidFill>
                <a:latin typeface="Aparajita" pitchFamily="18" charset="0"/>
                <a:cs typeface="Aparajita" pitchFamily="18" charset="0"/>
              </a:rPr>
              <a:t>CR </a:t>
            </a:r>
            <a:r>
              <a:rPr lang="hi-IN" sz="2800" dirty="0" smtClean="0">
                <a:solidFill>
                  <a:srgbClr val="E71D57"/>
                </a:solidFill>
                <a:latin typeface="Aparajita" pitchFamily="18" charset="0"/>
                <a:cs typeface="Aparajita" pitchFamily="18" charset="0"/>
              </a:rPr>
              <a:t>सम्बन्धी गणनाएं </a:t>
            </a:r>
            <a:endParaRPr lang="en-US" sz="4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blinds(horizontal)">
                                      <p:cBhvr>
                                        <p:cTn id="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hi-IN" sz="4000" dirty="0" smtClean="0">
                <a:solidFill>
                  <a:srgbClr val="E71D57"/>
                </a:solidFill>
                <a:latin typeface="Aparajita" pitchFamily="18" charset="0"/>
                <a:cs typeface="Aparajita" pitchFamily="18" charset="0"/>
              </a:rPr>
              <a:t>विभागीय पदोन्नति की प्रक्रिया से सम्बंधित कुछ आधारभूत  जानकारियां </a:t>
            </a:r>
            <a:endParaRPr lang="en-US" sz="4000" dirty="0">
              <a:solidFill>
                <a:srgbClr val="E71D57"/>
              </a:solidFill>
              <a:latin typeface="Aparajita" pitchFamily="18" charset="0"/>
              <a:cs typeface="Aparajita" pitchFamily="18" charset="0"/>
            </a:endParaRPr>
          </a:p>
        </p:txBody>
      </p:sp>
      <p:sp>
        <p:nvSpPr>
          <p:cNvPr id="3" name="Content Placeholder 2"/>
          <p:cNvSpPr>
            <a:spLocks noGrp="1"/>
          </p:cNvSpPr>
          <p:nvPr>
            <p:ph idx="1"/>
          </p:nvPr>
        </p:nvSpPr>
        <p:spPr/>
        <p:txBody>
          <a:bodyPr>
            <a:normAutofit fontScale="77500" lnSpcReduction="20000"/>
          </a:bodyPr>
          <a:lstStyle/>
          <a:p>
            <a:pPr algn="ctr">
              <a:buNone/>
            </a:pPr>
            <a:r>
              <a:rPr lang="hi-IN" sz="3600" dirty="0" smtClean="0">
                <a:solidFill>
                  <a:srgbClr val="E71D57"/>
                </a:solidFill>
                <a:latin typeface="Aparajita" pitchFamily="18" charset="0"/>
                <a:cs typeface="Aparajita" pitchFamily="18" charset="0"/>
              </a:rPr>
              <a:t>पदोन्नति हेतु विचार क्षेत्र </a:t>
            </a:r>
          </a:p>
          <a:p>
            <a:pPr marL="514350" indent="-514350" algn="ctr">
              <a:buNone/>
            </a:pPr>
            <a:r>
              <a:rPr lang="hi-IN" sz="3300" b="1" u="sng" dirty="0" smtClean="0">
                <a:solidFill>
                  <a:schemeClr val="accent2">
                    <a:lumMod val="50000"/>
                  </a:schemeClr>
                </a:solidFill>
                <a:latin typeface="Aparajita" pitchFamily="18" charset="0"/>
                <a:cs typeface="Aparajita" pitchFamily="18" charset="0"/>
              </a:rPr>
              <a:t>CLASS-I TO CLASS-I </a:t>
            </a:r>
          </a:p>
          <a:p>
            <a:pPr marL="0" indent="0" algn="ctr">
              <a:buNone/>
            </a:pPr>
            <a:r>
              <a:rPr lang="hi-IN" sz="2400" dirty="0" smtClean="0">
                <a:latin typeface="Aparajita" pitchFamily="18" charset="0"/>
                <a:cs typeface="Aparajita" pitchFamily="18" charset="0"/>
              </a:rPr>
              <a:t>यदि केवल एक रिक्ति है तो – </a:t>
            </a:r>
          </a:p>
          <a:p>
            <a:pPr marL="0" indent="0" algn="ctr">
              <a:buNone/>
            </a:pPr>
            <a:r>
              <a:rPr lang="hi-IN" sz="2400" dirty="0" smtClean="0">
                <a:latin typeface="Aparajita" pitchFamily="18" charset="0"/>
                <a:cs typeface="Aparajita" pitchFamily="18" charset="0"/>
              </a:rPr>
              <a:t>विचार क्षेत्र में वरिष्ठता क्रम में 5 अधिकारी लिए जायेंगे. </a:t>
            </a:r>
          </a:p>
          <a:p>
            <a:pPr marL="0" indent="0" algn="ctr">
              <a:buNone/>
            </a:pPr>
            <a:r>
              <a:rPr lang="hi-IN" sz="2400" dirty="0" smtClean="0">
                <a:latin typeface="Aparajita" pitchFamily="18" charset="0"/>
                <a:cs typeface="Aparajita" pitchFamily="18" charset="0"/>
              </a:rPr>
              <a:t>यदि एक से अधिक रिक्ति है तो </a:t>
            </a:r>
          </a:p>
          <a:p>
            <a:pPr marL="0" indent="0" algn="ctr">
              <a:buNone/>
            </a:pPr>
            <a:r>
              <a:rPr lang="hi-IN" sz="2400" dirty="0" smtClean="0">
                <a:latin typeface="Aparajita" pitchFamily="18" charset="0"/>
                <a:cs typeface="Aparajita" pitchFamily="18" charset="0"/>
              </a:rPr>
              <a:t>विचार क्षेत्र में वरिष्ठता क्रम में </a:t>
            </a:r>
          </a:p>
          <a:p>
            <a:pPr marL="514350" indent="-514350" algn="ctr">
              <a:buNone/>
            </a:pPr>
            <a:r>
              <a:rPr lang="hi-IN" sz="2400" b="1" i="1" dirty="0" smtClean="0">
                <a:solidFill>
                  <a:srgbClr val="C00000"/>
                </a:solidFill>
                <a:latin typeface="Aparajita" pitchFamily="18" charset="0"/>
                <a:cs typeface="Aparajita" pitchFamily="18" charset="0"/>
              </a:rPr>
              <a:t>(2 X रिक्तियों की संख्या + 4) </a:t>
            </a:r>
            <a:r>
              <a:rPr lang="hi-IN" sz="2400" dirty="0" smtClean="0">
                <a:latin typeface="Aparajita" pitchFamily="18" charset="0"/>
                <a:cs typeface="Aparajita" pitchFamily="18" charset="0"/>
              </a:rPr>
              <a:t>अधिकारी लिए जायेंगे. </a:t>
            </a:r>
          </a:p>
          <a:p>
            <a:pPr marL="514350" indent="-514350" algn="ctr">
              <a:buNone/>
            </a:pPr>
            <a:endParaRPr lang="hi-IN" sz="2400" dirty="0" smtClean="0">
              <a:latin typeface="Aparajita" pitchFamily="18" charset="0"/>
              <a:cs typeface="Aparajita" pitchFamily="18" charset="0"/>
            </a:endParaRPr>
          </a:p>
          <a:p>
            <a:pPr marL="514350" indent="-514350" algn="ctr">
              <a:buNone/>
            </a:pPr>
            <a:r>
              <a:rPr lang="hi-IN" dirty="0" smtClean="0">
                <a:solidFill>
                  <a:srgbClr val="0070C0"/>
                </a:solidFill>
                <a:latin typeface="Aparajita" pitchFamily="18" charset="0"/>
                <a:cs typeface="Aparajita" pitchFamily="18" charset="0"/>
              </a:rPr>
              <a:t>NOTE – यदि आरक्षित वर्ग के अधिकारी पर्याप्त संख्या में प्राप्त न हों तो विचार क्षेत्र, उस वर्ग की रिक्ति का 7 गुणा केवल सम्बंधित वर्ग के अधिकारी प्राप्त करने हेतु बढाया जायेगा.</a:t>
            </a:r>
          </a:p>
          <a:p>
            <a:pPr marL="514350" indent="-514350">
              <a:buNone/>
            </a:pPr>
            <a:endParaRPr lang="hi-IN" sz="3300" b="1" dirty="0" smtClean="0">
              <a:solidFill>
                <a:schemeClr val="accent2">
                  <a:lumMod val="50000"/>
                </a:schemeClr>
              </a:solidFill>
              <a:latin typeface="Aparajita" pitchFamily="18" charset="0"/>
              <a:cs typeface="Aparajita" pitchFamily="18" charset="0"/>
            </a:endParaRPr>
          </a:p>
          <a:p>
            <a:pPr marL="514350" indent="-514350" algn="ctr">
              <a:buNone/>
            </a:pPr>
            <a:r>
              <a:rPr lang="hi-IN" sz="3300" b="1" u="sng" dirty="0" smtClean="0">
                <a:solidFill>
                  <a:schemeClr val="accent2">
                    <a:lumMod val="50000"/>
                  </a:schemeClr>
                </a:solidFill>
                <a:latin typeface="Aparajita" pitchFamily="18" charset="0"/>
                <a:cs typeface="Aparajita" pitchFamily="18" charset="0"/>
              </a:rPr>
              <a:t>CLASS-I TO CLASS-I को छोड़कर अन्य प्रकरणों के लिए </a:t>
            </a:r>
          </a:p>
          <a:p>
            <a:pPr marL="514350" indent="-514350" algn="ctr">
              <a:buNone/>
            </a:pPr>
            <a:r>
              <a:rPr lang="hi-IN" sz="2500" dirty="0" smtClean="0">
                <a:latin typeface="Aparajita" pitchFamily="18" charset="0"/>
                <a:cs typeface="Aparajita" pitchFamily="18" charset="0"/>
              </a:rPr>
              <a:t>विचार क्षेत्र में अनुभव अर्हता पूर्ण करने वाले सभी अधिकारीयों/ कर्मचारियों को लिया जाएगा </a:t>
            </a:r>
            <a:endParaRPr lang="en-US" sz="2500" dirty="0">
              <a:latin typeface="Aparajita" pitchFamily="18" charset="0"/>
              <a:cs typeface="Aparajita"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hi-IN" sz="4000" dirty="0" smtClean="0">
                <a:solidFill>
                  <a:srgbClr val="E71D57"/>
                </a:solidFill>
                <a:latin typeface="Aparajita" pitchFamily="18" charset="0"/>
                <a:cs typeface="Aparajita" pitchFamily="18" charset="0"/>
              </a:rPr>
              <a:t>विभागीय पदोन्नति की प्रक्रिया से सम्बंधित कुछ आधारभूत  जानकारियां </a:t>
            </a:r>
            <a:endParaRPr lang="en-US" sz="4000" dirty="0">
              <a:solidFill>
                <a:srgbClr val="E71D57"/>
              </a:solidFill>
              <a:latin typeface="Aparajita" pitchFamily="18" charset="0"/>
              <a:cs typeface="Aparajita" pitchFamily="18" charset="0"/>
            </a:endParaRPr>
          </a:p>
        </p:txBody>
      </p:sp>
      <p:sp>
        <p:nvSpPr>
          <p:cNvPr id="3" name="Content Placeholder 2"/>
          <p:cNvSpPr>
            <a:spLocks noGrp="1"/>
          </p:cNvSpPr>
          <p:nvPr>
            <p:ph idx="1"/>
          </p:nvPr>
        </p:nvSpPr>
        <p:spPr/>
        <p:txBody>
          <a:bodyPr>
            <a:normAutofit/>
          </a:bodyPr>
          <a:lstStyle/>
          <a:p>
            <a:pPr algn="ctr">
              <a:buNone/>
            </a:pPr>
            <a:r>
              <a:rPr lang="hi-IN" sz="2800" dirty="0" smtClean="0">
                <a:solidFill>
                  <a:srgbClr val="E71D57"/>
                </a:solidFill>
                <a:latin typeface="Aparajita" pitchFamily="18" charset="0"/>
                <a:cs typeface="Aparajita" pitchFamily="18" charset="0"/>
              </a:rPr>
              <a:t>विभागीय पदोन्नति के प्रकार </a:t>
            </a:r>
          </a:p>
          <a:p>
            <a:pPr marL="514350" indent="-514350" algn="just">
              <a:buAutoNum type="arabicPeriod"/>
            </a:pPr>
            <a:r>
              <a:rPr lang="hi-IN" sz="2000" b="1" dirty="0" smtClean="0">
                <a:solidFill>
                  <a:srgbClr val="002060"/>
                </a:solidFill>
                <a:latin typeface="Aparajita" pitchFamily="18" charset="0"/>
                <a:cs typeface="Aparajita" pitchFamily="18" charset="0"/>
              </a:rPr>
              <a:t>Fresh DPC – </a:t>
            </a:r>
            <a:r>
              <a:rPr lang="hi-IN" sz="2000" dirty="0" smtClean="0">
                <a:solidFill>
                  <a:srgbClr val="002060"/>
                </a:solidFill>
                <a:latin typeface="Aparajita" pitchFamily="18" charset="0"/>
                <a:cs typeface="Aparajita" pitchFamily="18" charset="0"/>
              </a:rPr>
              <a:t>नविन पदोन्नति प्रस्ताव FRESH DPC के माध्यम से आयोग को प्रेषित किये जाते हैं. </a:t>
            </a:r>
          </a:p>
          <a:p>
            <a:pPr marL="514350" indent="-514350" algn="just">
              <a:buAutoNum type="arabicPeriod"/>
            </a:pPr>
            <a:r>
              <a:rPr lang="hi-IN" sz="2000" b="1" dirty="0" smtClean="0">
                <a:solidFill>
                  <a:srgbClr val="002060"/>
                </a:solidFill>
                <a:latin typeface="Aparajita" pitchFamily="18" charset="0"/>
                <a:cs typeface="Aparajita" pitchFamily="18" charset="0"/>
              </a:rPr>
              <a:t>Review DPC – </a:t>
            </a:r>
            <a:r>
              <a:rPr lang="hi-IN" sz="2000" dirty="0" smtClean="0">
                <a:solidFill>
                  <a:srgbClr val="002060"/>
                </a:solidFill>
                <a:latin typeface="Aparajita" pitchFamily="18" charset="0"/>
                <a:cs typeface="Aparajita" pitchFamily="18" charset="0"/>
              </a:rPr>
              <a:t>FRESH DPC में किसी प्रकार की त्रुटी होने पर, त्रुटी के संज्ञान में आने के पश्चात् त्रुटी के निराकरण हेतु अभ्यावेदन के साथ REVIEW DPC प्रस्ताव आयोग को प्रेषित किए जाते हैं.</a:t>
            </a:r>
          </a:p>
          <a:p>
            <a:pPr marL="514350" indent="-514350" algn="just">
              <a:buAutoNum type="arabicPeriod"/>
            </a:pPr>
            <a:r>
              <a:rPr lang="hi-IN" sz="2000" b="1" dirty="0" smtClean="0">
                <a:solidFill>
                  <a:srgbClr val="002060"/>
                </a:solidFill>
                <a:latin typeface="Aparajita" pitchFamily="18" charset="0"/>
                <a:cs typeface="Aparajita" pitchFamily="18" charset="0"/>
              </a:rPr>
              <a:t>Circulation DPC – </a:t>
            </a:r>
            <a:r>
              <a:rPr lang="hi-IN" sz="2000" dirty="0" smtClean="0">
                <a:solidFill>
                  <a:srgbClr val="002060"/>
                </a:solidFill>
                <a:latin typeface="Aparajita" pitchFamily="18" charset="0"/>
                <a:cs typeface="Aparajita" pitchFamily="18" charset="0"/>
              </a:rPr>
              <a:t>DPC की प्रक्रिया में एक या अधिक अधिकारीयों या कर्मचारियों के अचल संपत्ति विवरण अथवा 2 या अधिक वर्ष की CR उपलब्ध न होने पर परिभ्रमण टीप हस्ताक्षर हेतु आयोग को प्रेषित की जाती है.</a:t>
            </a:r>
          </a:p>
          <a:p>
            <a:pPr marL="514350" indent="-514350">
              <a:buAutoNum type="arabicPeriod"/>
            </a:pPr>
            <a:endParaRPr lang="en-US"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oundry">
      <a:dk1>
        <a:sysClr val="windowText" lastClr="000000"/>
      </a:dk1>
      <a:lt1>
        <a:sysClr val="window" lastClr="FFFFFF"/>
      </a:lt1>
      <a:dk2>
        <a:srgbClr val="676A55"/>
      </a:dk2>
      <a:lt2>
        <a:srgbClr val="EAEBDE"/>
      </a:lt2>
      <a:accent1>
        <a:srgbClr val="72A376"/>
      </a:accent1>
      <a:accent2>
        <a:srgbClr val="B0CCB0"/>
      </a:accent2>
      <a:accent3>
        <a:srgbClr val="A8CDD7"/>
      </a:accent3>
      <a:accent4>
        <a:srgbClr val="C0BEAF"/>
      </a:accent4>
      <a:accent5>
        <a:srgbClr val="CEC597"/>
      </a:accent5>
      <a:accent6>
        <a:srgbClr val="E8B7B7"/>
      </a:accent6>
      <a:hlink>
        <a:srgbClr val="DB5353"/>
      </a:hlink>
      <a:folHlink>
        <a:srgbClr val="903638"/>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3707</TotalTime>
  <Words>608</Words>
  <Application>Microsoft Office PowerPoint</Application>
  <PresentationFormat>On-screen Show (4:3)</PresentationFormat>
  <Paragraphs>73</Paragraphs>
  <Slides>7</Slides>
  <Notes>0</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Flow</vt:lpstr>
      <vt:lpstr>CHHATTISGARH PUBLIC SERVICE COMMISSION</vt:lpstr>
      <vt:lpstr>Slide 2</vt:lpstr>
      <vt:lpstr>विभागीय पदोन्नति की प्रक्रिया से सम्बंधित कुछ आधारभूत  जानकारियां </vt:lpstr>
      <vt:lpstr>Slide 4</vt:lpstr>
      <vt:lpstr>Slide 5</vt:lpstr>
      <vt:lpstr>विभागीय पदोन्नति की प्रक्रिया से सम्बंधित कुछ आधारभूत  जानकारियां </vt:lpstr>
      <vt:lpstr>विभागीय पदोन्नति की प्रक्रिया से सम्बंधित कुछ आधारभूत  जानकारियां </vt:lpstr>
    </vt:vector>
  </TitlesOfParts>
  <Company>CGPSC</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CHHATTISGARH PUBLIC SERVICE COMMISSION</dc:title>
  <dc:creator>GAJANAN RATHOD</dc:creator>
  <cp:lastModifiedBy>GAJANAN RATHOD</cp:lastModifiedBy>
  <cp:revision>183</cp:revision>
  <dcterms:created xsi:type="dcterms:W3CDTF">2018-03-10T09:20:19Z</dcterms:created>
  <dcterms:modified xsi:type="dcterms:W3CDTF">2018-04-18T03:52:19Z</dcterms:modified>
</cp:coreProperties>
</file>